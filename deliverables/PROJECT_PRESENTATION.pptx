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Good morning respected members of the evaluation committee, internal guide, and faculty members. Today I am presenting my final-year engineering capstone project: 'Campus Events Calendar', a full-stack, distributed mobile application engineered to solve event fragmentation across university campuses.</a:t>
            </a:r>
          </a:p>
          <a:p/>
          <a:p>
            <a:r>
              <a:t>IMPORTANT TECHNICAL CONCEPTS:</a:t>
            </a:r>
          </a:p>
          <a:p>
            <a:r>
              <a:t>React Native New Architecture, 3-tier distributed client-server model, Supabase PostgreSQL with Row Level Security, production release APK engineering.</a:t>
            </a:r>
          </a:p>
          <a:p/>
          <a:p>
            <a:r>
              <a:t>WHAT THE PRESENTER SHOULD EMPHASIZE:</a:t>
            </a:r>
          </a:p>
          <a:p>
            <a:r>
              <a:t>Highlight that this is not a mock concept or unfinished prototype; it is an end-to-end engineered, release-signed production application with a live cloud backend and verified database tracking.</a:t>
            </a:r>
          </a:p>
          <a:p/>
          <a:p>
            <a:r>
              <a:t>TRANSITION TO NEXT SLIDE:</a:t>
            </a:r>
          </a:p>
          <a:p>
            <a:r>
              <a:t>Let us begin with an executive abstract of the project in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This slide presents the formal abstract of the project. It outlines the operational disconnect in university event management and our technical approach to solving it.</a:t>
            </a:r>
          </a:p>
          <a:p/>
          <a:p>
            <a:r>
              <a:t>IMPORTANT TECHNICAL CONCEPTS:</a:t>
            </a:r>
          </a:p>
          <a:p>
            <a:r>
              <a:t>Information fragmentation, distributed architecture, zero-trust student identity verification, Row Level Security.</a:t>
            </a:r>
          </a:p>
          <a:p/>
          <a:p>
            <a:r>
              <a:t>WHAT THE PRESENTER SHOULD EMPHASIZE:</a:t>
            </a:r>
          </a:p>
          <a:p>
            <a:r>
              <a:t>Emphasize that the system targets both the student user experience (discovering events effortlessly) and the administrative security requirements (preventing spoofed registrations).</a:t>
            </a:r>
          </a:p>
          <a:p/>
          <a:p>
            <a:r>
              <a:t>TRANSITION TO NEXT SLIDE:</a:t>
            </a:r>
          </a:p>
          <a:p>
            <a:r>
              <a:t>Now let us examine the background and institutional context in Slide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3 frames the real-world operational context of our academic institution. With hundreds of independent events occurring every semester, communication silos are inevitable without a dedicated technological platform.</a:t>
            </a:r>
          </a:p>
          <a:p/>
          <a:p>
            <a:r>
              <a:t>IMPORTANT TECHNICAL CONCEPTS:</a:t>
            </a:r>
          </a:p>
          <a:p>
            <a:r>
              <a:t>Stakeholder analysis, mobile-first design rationale, centralized scheduling authority.</a:t>
            </a:r>
          </a:p>
          <a:p/>
          <a:p>
            <a:r>
              <a:t>WHAT THE PRESENTER SHOULD EMPHASIZE:</a:t>
            </a:r>
          </a:p>
          <a:p>
            <a:r>
              <a:t>Point out that the application serves four distinct campus personas: students, club organizers, faculty coordinators, and campus IT administrators.</a:t>
            </a:r>
          </a:p>
          <a:p/>
          <a:p>
            <a:r>
              <a:t>TRANSITION TO NEXT SLIDE:</a:t>
            </a:r>
          </a:p>
          <a:p>
            <a:r>
              <a:t>Next, in Slide 4, we define the formal problem statement in detail.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Here we articulate the four core pillars of the problem statement. These are not theoretical issues—they represent recurring frustrations experienced every semester by students and faculty alike.</a:t>
            </a:r>
          </a:p>
          <a:p/>
          <a:p>
            <a:r>
              <a:t>IMPORTANT TECHNICAL CONCEPTS:</a:t>
            </a:r>
          </a:p>
          <a:p>
            <a:r>
              <a:t>Data isolation, unverified identity propagation, schedule conflict concurrency, unstructured communication channels.</a:t>
            </a:r>
          </a:p>
          <a:p/>
          <a:p>
            <a:r>
              <a:t>WHAT THE PRESENTER SHOULD EMPHASIZE:</a:t>
            </a:r>
          </a:p>
          <a:p>
            <a:r>
              <a:t>Stress the second point: registration chaos. Anyone with a link could submit fake emails or overload venue capacity. This was a core motivation for our strict email verification pipeline.</a:t>
            </a:r>
          </a:p>
          <a:p/>
          <a:p>
            <a:r>
              <a:t>TRANSITION TO NEXT SLIDE:</a:t>
            </a:r>
          </a:p>
          <a:p>
            <a:r>
              <a:t>Having defined the problems, Slide 5 establishes the measurable technical objectives we set out to achieve.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5 outlines the six core technical objectives of the project. Each objective maps directly to a specific software engineering milestone that we have fully executed and verified.</a:t>
            </a:r>
          </a:p>
          <a:p/>
          <a:p>
            <a:r>
              <a:t>IMPORTANT TECHNICAL CONCEPTS:</a:t>
            </a:r>
          </a:p>
          <a:p>
            <a:r>
              <a:t>Measurable project deliverables, cross-platform compilation, cryptographic signing, Row Level Security, auditability.</a:t>
            </a:r>
          </a:p>
          <a:p/>
          <a:p>
            <a:r>
              <a:t>WHAT THE PRESENTER SHOULD EMPHASIZE:</a:t>
            </a:r>
          </a:p>
          <a:p>
            <a:r>
              <a:t>Emphasize that every single objective listed here has been 100% completed, tested, and validated against the production environment.</a:t>
            </a:r>
          </a:p>
          <a:p/>
          <a:p>
            <a:r>
              <a:t>TRANSITION TO NEXT SLIDE:</a:t>
            </a:r>
          </a:p>
          <a:p>
            <a:r>
              <a:t>Let us examine how existing methods compare to our solution in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In Slide 6, we analyze the limitations of existing campus communication mechanisms. Neither traditional print media nor ad-hoc social messaging tools were ever designed to serve as structured scheduling databases.</a:t>
            </a:r>
          </a:p>
          <a:p/>
          <a:p>
            <a:r>
              <a:t>IMPORTANT TECHNICAL CONCEPTS:</a:t>
            </a:r>
          </a:p>
          <a:p>
            <a:r>
              <a:t>Information entropy, absence of concurrency control, lack of referential integrity, data isolation.</a:t>
            </a:r>
          </a:p>
          <a:p/>
          <a:p>
            <a:r>
              <a:t>WHAT THE PRESENTER SHOULD EMPHASIZE:</a:t>
            </a:r>
          </a:p>
          <a:p>
            <a:r>
              <a:t>Point out that Google Forms lacks real-time capacity checks and domain verification, creating massive reconciliation work for organizers after every single event.</a:t>
            </a:r>
          </a:p>
          <a:p/>
          <a:p>
            <a:r>
              <a:t>TRANSITION TO NEXT SLIDE:</a:t>
            </a:r>
          </a:p>
          <a:p>
            <a:r>
              <a:t>Slide 7 introduces our proposed system and highlights the quantifiable architectural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7 introduces our proposed solution. Notice the side-by-side comparison table on the right: in every single vector—from student verification to data privacy—our platform transforms an ad-hoc process into an enterprise-grade digital service.</a:t>
            </a:r>
          </a:p>
          <a:p/>
          <a:p>
            <a:r>
              <a:t>IMPORTANT TECHNICAL CONCEPTS:</a:t>
            </a:r>
          </a:p>
          <a:p>
            <a:r>
              <a:t>Comparative feature matrix, Row Level Security, concurrency locks, offline persistence.</a:t>
            </a:r>
          </a:p>
          <a:p/>
          <a:p>
            <a:r>
              <a:t>WHAT THE PRESENTER SHOULD EMPHASIZE:</a:t>
            </a:r>
          </a:p>
          <a:p>
            <a:r>
              <a:t>Draw faculty attention to the green text in the right-hand column representing our verified implementations, particularly the strict identity verification and automated capacity triggers.</a:t>
            </a:r>
          </a:p>
          <a:p/>
          <a:p>
            <a:r>
              <a:t>TRANSITION TO NEXT SLIDE:</a:t>
            </a:r>
          </a:p>
          <a:p>
            <a:r>
              <a:t>Now let us examine the formal 3-tier system architecture diagram in Slide 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8 presents our complete four-tier distributed system architecture. We have cleanly decoupled the client presentation tier, business logic tier, persistent cloud database tier, and public distribution tier.</a:t>
            </a:r>
          </a:p>
          <a:p/>
          <a:p>
            <a:r>
              <a:t>IMPORTANT TECHNICAL CONCEPTS:</a:t>
            </a:r>
          </a:p>
          <a:p>
            <a:r>
              <a:t>Tiered system architecture, separation of concerns, stateless REST API, declarative database security.</a:t>
            </a:r>
          </a:p>
          <a:p/>
          <a:p>
            <a:r>
              <a:t>WHAT THE PRESENTER SHOULD EMPHASIZE:</a:t>
            </a:r>
          </a:p>
          <a:p>
            <a:r>
              <a:t>Explain how the React Native client talks over HTTPS to the Render backend for validated mutations, while utilizing the Supabase client SDK for direct real-time profile listeners under strict RLS policies.</a:t>
            </a:r>
          </a:p>
          <a:p/>
          <a:p>
            <a:r>
              <a:t>TRANSITION TO NEXT SLIDE:</a:t>
            </a:r>
          </a:p>
          <a:p>
            <a:r>
              <a:t>Slide 9 breaks down the comprehensive technology stack powering this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9 explains our technology choices. Rather than selecting libraries arbitrarily, every technology was chosen to fulfill a specific non-functional requirement such as type safety, low startup latency, or declarative data isolation.</a:t>
            </a:r>
          </a:p>
          <a:p/>
          <a:p>
            <a:r>
              <a:t>IMPORTANT TECHNICAL CONCEPTS:</a:t>
            </a:r>
          </a:p>
          <a:p>
            <a:r>
              <a:t>Hermes bytecode compilation, Zod type inference, PostgREST protocol, APK signature verification.</a:t>
            </a:r>
          </a:p>
          <a:p/>
          <a:p>
            <a:r>
              <a:t>WHAT THE PRESENTER SHOULD EMPHASIZE:</a:t>
            </a:r>
          </a:p>
          <a:p>
            <a:r>
              <a:t>Highlight Hermes and TypeScript: Hermes precompiles JavaScript into bytecode at build time, drastically improving launch speed on student Android smartphones.</a:t>
            </a:r>
          </a:p>
          <a:p/>
          <a:p>
            <a:r>
              <a:t>TRANSITION TO NEXT SLIDE:</a:t>
            </a:r>
          </a:p>
          <a:p>
            <a:r>
              <a:t>Let us examine how these technologies are structured into application modules in Slide 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10 presents the functional decomposition of the platform into five core modules. This modular structure adheres to the Single Responsibility Principle, making the codebase maintainable and testable.</a:t>
            </a:r>
          </a:p>
          <a:p/>
          <a:p>
            <a:r>
              <a:t>IMPORTANT TECHNICAL CONCEPTS:</a:t>
            </a:r>
          </a:p>
          <a:p>
            <a:r>
              <a:t>Modular decomposition, cohesion and coupling, audit subsystem, event lifecycle management.</a:t>
            </a:r>
          </a:p>
          <a:p/>
          <a:p>
            <a:r>
              <a:t>WHAT THE PRESENTER SHOULD EMPHASIZE:</a:t>
            </a:r>
          </a:p>
          <a:p>
            <a:r>
              <a:t>Point out that Module 1 (Auth) and Module 5 (Audit) work in tandem: whenever a student logs in, the audit module transparently captures authentication telemetry without blocking UI responsiveness.</a:t>
            </a:r>
          </a:p>
          <a:p/>
          <a:p>
            <a:r>
              <a:t>TRANSITION TO NEXT SLIDE:</a:t>
            </a:r>
          </a:p>
          <a:p>
            <a:r>
              <a:t>Now let us examine the user interface and aesthetic design system in Slide 11.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11 details our user interface and visual design system. The application employs an OLED-optimized dark theme (#000000 background with #222222 elevated cards and #1DCD9F emerald green accents).</a:t>
            </a:r>
          </a:p>
          <a:p/>
          <a:p>
            <a:r>
              <a:t>IMPORTANT TECHNICAL CONCEPTS:</a:t>
            </a:r>
          </a:p>
          <a:p>
            <a:r>
              <a:t>Visual hierarchy, affordance, ergonomic touch targets (minimum 44x44 points), dark theme OLED power optimization.</a:t>
            </a:r>
          </a:p>
          <a:p/>
          <a:p>
            <a:r>
              <a:t>WHAT THE PRESENTER SHOULD EMPHASIZE:</a:t>
            </a:r>
          </a:p>
          <a:p>
            <a:r>
              <a:t>Explain that the UI provides immediate tactile feedback: when a user bookmarks an event, the icon updates optimistically in 16 milliseconds without waiting for server network roundtrips.</a:t>
            </a:r>
          </a:p>
          <a:p/>
          <a:p>
            <a:r>
              <a:t>TRANSITION TO NEXT SLIDE:</a:t>
            </a:r>
          </a:p>
          <a:p>
            <a:r>
              <a:t>Slide 12 dives deeper into the specific key features implemented in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12 spotlights our most significant technical features. I would like to direct your attention specifically to the top two features: strict Gmail format validation and real-time sign-in audit logging.</a:t>
            </a:r>
          </a:p>
          <a:p/>
          <a:p>
            <a:r>
              <a:t>IMPORTANT TECHNICAL CONCEPTS:</a:t>
            </a:r>
          </a:p>
          <a:p>
            <a:r>
              <a:t>Input sanitization regex, GoTrue PKCE token exchange, relational audit schemas, same-origin MIME streaming.</a:t>
            </a:r>
          </a:p>
          <a:p/>
          <a:p>
            <a:r>
              <a:t>WHAT THE PRESENTER SHOULD EMPHASIZE:</a:t>
            </a:r>
          </a:p>
          <a:p>
            <a:r>
              <a:t>Emphasize that the regex prevents edge-case injection attempts like consecutive dots, trailing dots, or non-alphanumeric symbols that malformed signups often exploit.</a:t>
            </a:r>
          </a:p>
          <a:p/>
          <a:p>
            <a:r>
              <a:t>TRANSITION TO NEXT SLIDE:</a:t>
            </a:r>
          </a:p>
          <a:p>
            <a:r>
              <a:t>Let us examine the exact workflow and data flow lifecycle in Slide 13.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13 diagrams the end-to-end data flow pipeline. It walks through how user interactions on the mobile client traverse through our middleware validation layer before touching persistent database storage.</a:t>
            </a:r>
          </a:p>
          <a:p/>
          <a:p>
            <a:r>
              <a:t>IMPORTANT TECHNICAL CONCEPTS:</a:t>
            </a:r>
          </a:p>
          <a:p>
            <a:r>
              <a:t>Client-server interaction pipeline, Bearer token authentication, asynchronous audit propagation, transactional integrity.</a:t>
            </a:r>
          </a:p>
          <a:p/>
          <a:p>
            <a:r>
              <a:t>WHAT THE PRESENTER SHOULD EMPHASIZE:</a:t>
            </a:r>
          </a:p>
          <a:p>
            <a:r>
              <a:t>Point out the third card: every single data request is authenticated, validated with Zod, and evaluated by PostgreSQL Row Level Security before being committed.</a:t>
            </a:r>
          </a:p>
          <a:p/>
          <a:p>
            <a:r>
              <a:t>TRANSITION TO NEXT SLIDE:</a:t>
            </a:r>
          </a:p>
          <a:p>
            <a:r>
              <a:t>Now let us examine the database schema and relational design in Slide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14 details our PostgreSQL database schema. The database is third-normal-form compliant with strict foreign key constraints and cascade rules to prevent orphaned records.</a:t>
            </a:r>
          </a:p>
          <a:p/>
          <a:p>
            <a:r>
              <a:t>IMPORTANT TECHNICAL CONCEPTS:</a:t>
            </a:r>
          </a:p>
          <a:p>
            <a:r>
              <a:t>Third Normal Form (3NF), declarative Row Level Security, B-tree indexing, PostgreSQL stored triggers.</a:t>
            </a:r>
          </a:p>
          <a:p/>
          <a:p>
            <a:r>
              <a:t>WHAT THE PRESENTER SHOULD EMPHASIZE:</a:t>
            </a:r>
          </a:p>
          <a:p>
            <a:r>
              <a:t>Emphasize the unique constraint on (user_id, event_id) in the registrations table: it is physically impossible at the database engine level for a student to register twice for the same event.</a:t>
            </a:r>
          </a:p>
          <a:p/>
          <a:p>
            <a:r>
              <a:t>TRANSITION TO NEXT SLIDE:</a:t>
            </a:r>
          </a:p>
          <a:p>
            <a:r>
              <a:t>Slide 15 explains the actual code implementation details and core engineering logic.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15 examines the technical implementation details. We implemented dual-layer validation using Zod: the client validates inputs to give instant visual feedback, while the server independently re-validates every request to prevent API bypass attacks.</a:t>
            </a:r>
          </a:p>
          <a:p/>
          <a:p>
            <a:r>
              <a:t>IMPORTANT TECHNICAL CONCEPTS:</a:t>
            </a:r>
          </a:p>
          <a:p>
            <a:r>
              <a:t>Dual-layer validation, optimistic mutations, SecureStore encryption, TurboModules C++ compilation.</a:t>
            </a:r>
          </a:p>
          <a:p/>
          <a:p>
            <a:r>
              <a:t>WHAT THE PRESENTER SHOULD EMPHASIZE:</a:t>
            </a:r>
          </a:p>
          <a:p>
            <a:r>
              <a:t>Point out the bottom-right card: our Android build utilizes the modern React Native New Architecture with Hermes and Ninja, rather than legacy JavaScript bridge architectures.</a:t>
            </a:r>
          </a:p>
          <a:p/>
          <a:p>
            <a:r>
              <a:t>TRANSITION TO NEXT SLIDE:</a:t>
            </a:r>
          </a:p>
          <a:p>
            <a:r>
              <a:t>Now let us examine the comprehensive security model in Slide 16.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16 details our defense-in-depth security model. Security is not an afterthought in this project—it is implemented at every layer from the client keystore to the PostgreSQL storage engine.</a:t>
            </a:r>
          </a:p>
          <a:p/>
          <a:p>
            <a:r>
              <a:t>IMPORTANT TECHNICAL CONCEPTS:</a:t>
            </a:r>
          </a:p>
          <a:p>
            <a:r>
              <a:t>Defense-in-depth, Principle of Least Privilege, Row Level Security, cryptographic signing schemes v2/v3.</a:t>
            </a:r>
          </a:p>
          <a:p/>
          <a:p>
            <a:r>
              <a:t>WHAT THE PRESENTER SHOULD EMPHASIZE:</a:t>
            </a:r>
          </a:p>
          <a:p>
            <a:r>
              <a:t>Emphasize the Row Level Security aspect: even if an attacker crafted a custom HTTP request to our database, PostgreSQL itself rejects unauthorized queries based on the cryptographically verified JWT user ID.</a:t>
            </a:r>
          </a:p>
          <a:p/>
          <a:p>
            <a:r>
              <a:t>TRANSITION TO NEXT SLIDE:</a:t>
            </a:r>
          </a:p>
          <a:p>
            <a:r>
              <a:t>Slide 17 presents our rigorous testing and validation matrix.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17 displays our verification matrix. We did not merely test the happy path; we executed rigorous edge-case testing including malicious dot placements in emails, Row Level Security boundary violations, and full-capacity concurrency locks.</a:t>
            </a:r>
          </a:p>
          <a:p/>
          <a:p>
            <a:r>
              <a:t>IMPORTANT TECHNICAL CONCEPTS:</a:t>
            </a:r>
          </a:p>
          <a:p>
            <a:r>
              <a:t>Test automation, boundary condition analysis, negative testing, cryptographic signature verification.</a:t>
            </a:r>
          </a:p>
          <a:p/>
          <a:p>
            <a:r>
              <a:t>WHAT THE PRESENTER SHOULD EMPHASIZE:</a:t>
            </a:r>
          </a:p>
          <a:p>
            <a:r>
              <a:t>Highlight TC-APK-01 and TC-RLS-01: these tests confirm that unauthorized database mutations are blocked at the engine level, and the compiled release binary installs cleanly on modern Android devices.</a:t>
            </a:r>
          </a:p>
          <a:p/>
          <a:p>
            <a:r>
              <a:t>TRANSITION TO NEXT SLIDE:</a:t>
            </a:r>
          </a:p>
          <a:p>
            <a:r>
              <a:t>Now let us examine the verified outputs and live operational results in Slide 18.</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18 presents our verified project deliverables. All four operational environments—the compiled APK, the Express backend on Render, the Supabase PostgreSQL database, and the GitHub Pages portal—are currently active and accessible.</a:t>
            </a:r>
          </a:p>
          <a:p/>
          <a:p>
            <a:r>
              <a:t>IMPORTANT TECHNICAL CONCEPTS:</a:t>
            </a:r>
          </a:p>
          <a:p>
            <a:r>
              <a:t>Production verification, SLA performance metrics, CDN distribution, binary integrity checksum.</a:t>
            </a:r>
          </a:p>
          <a:p/>
          <a:p>
            <a:r>
              <a:t>WHAT THE PRESENTER SHOULD EMPHASIZE:</a:t>
            </a:r>
          </a:p>
          <a:p>
            <a:r>
              <a:t>Emphasize that the committee can scan the QR code on our live website right now to install the APK on an Android device or test the live health endpoint.</a:t>
            </a:r>
          </a:p>
          <a:p/>
          <a:p>
            <a:r>
              <a:t>TRANSITION TO NEXT SLIDE:</a:t>
            </a:r>
          </a:p>
          <a:p>
            <a:r>
              <a:t>Building a system of this scale inevitably encounters engineering challenges. Slide 19 details how we resolved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19 highlights our problem-solving methodology. Engineering is defined by how we overcome real-world constraints: from Windows filesystem limits during native C++ compilation to cryptographic keystore conflicts on Android.</a:t>
            </a:r>
          </a:p>
          <a:p/>
          <a:p>
            <a:r>
              <a:t>IMPORTANT TECHNICAL CONCEPTS:</a:t>
            </a:r>
          </a:p>
          <a:p>
            <a:r>
              <a:t>MAX_PATH filesystem limitations, C++ linkage collision resolution, Android package manager signature verification, cross-origin redirection policies.</a:t>
            </a:r>
          </a:p>
          <a:p/>
          <a:p>
            <a:r>
              <a:t>WHAT THE PRESENTER SHOULD EMPHASIZE:</a:t>
            </a:r>
          </a:p>
          <a:p>
            <a:r>
              <a:t>Emphasize Challenge 3 and 4: resolving the release keystore conflict and cross-origin download blocking ensured that real student users can download and install the app seamlessly.</a:t>
            </a:r>
          </a:p>
          <a:p/>
          <a:p>
            <a:r>
              <a:t>TRANSITION TO NEXT SLIDE:</a:t>
            </a:r>
          </a:p>
          <a:p>
            <a:r>
              <a:t>In Slide 20, we clearly delineate current project boundaries from future enhancements.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20 maintains academic integrity by clearly distinguishing what has been implemented from future roadmap items. We are transparent about the project's current boundaries.</a:t>
            </a:r>
          </a:p>
          <a:p/>
          <a:p>
            <a:r>
              <a:t>IMPORTANT TECHNICAL CONCEPTS:</a:t>
            </a:r>
          </a:p>
          <a:p>
            <a:r>
              <a:t>System boundary analysis, multi-tenant federation, QR code ticketing, asynchronous push notification gateways.</a:t>
            </a:r>
          </a:p>
          <a:p/>
          <a:p>
            <a:r>
              <a:t>WHAT THE PRESENTER SHOULD EMPHASIZE:</a:t>
            </a:r>
          </a:p>
          <a:p>
            <a:r>
              <a:t>Emphasize that the current system provides a complete, self-contained, working product, while the Phase 2 enhancements offer a natural trajectory for scaling the platform commercially or institution-wide.</a:t>
            </a:r>
          </a:p>
          <a:p/>
          <a:p>
            <a:r>
              <a:t>TRANSITION TO NEXT SLIDE:</a:t>
            </a:r>
          </a:p>
          <a:p>
            <a:r>
              <a:t>Let us summarize our findings and project impact in Slide 21.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In conclusion, the Campus Events Calendar project successfully demonstrates that modern cloud-native architectures can solve persistent campus communication bottlenecks. We delivered a complete, secure, and production-tested application that is ready for immediate deployment.</a:t>
            </a:r>
          </a:p>
          <a:p/>
          <a:p>
            <a:r>
              <a:t>IMPORTANT TECHNICAL CONCEPTS:</a:t>
            </a:r>
          </a:p>
          <a:p>
            <a:r>
              <a:t>Full-stack software engineering synthesis, zero-trust verification, institutional impact, reproducible academic methodology.</a:t>
            </a:r>
          </a:p>
          <a:p/>
          <a:p>
            <a:r>
              <a:t>WHAT THE PRESENTER SHOULD EMPHASIZE:</a:t>
            </a:r>
          </a:p>
          <a:p>
            <a:r>
              <a:t>Express gratitude for the opportunity to engineer a project that solves a genuine daily problem for our college community.</a:t>
            </a:r>
          </a:p>
          <a:p/>
          <a:p>
            <a:r>
              <a:t>TRANSITION TO NEXT SLIDE:</a:t>
            </a:r>
          </a:p>
          <a:p>
            <a:r>
              <a:t>Slide 22 lists the formal academic and technical references consulted throughout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Slide 22 cites the formal literature, engineering manuals, and IEEE reference standards utilized during the conception, development, and cryptographic verification of the platform.</a:t>
            </a:r>
          </a:p>
          <a:p/>
          <a:p>
            <a:r>
              <a:t>IMPORTANT TECHNICAL CONCEPTS:</a:t>
            </a:r>
          </a:p>
          <a:p>
            <a:r>
              <a:t>Literature review, industry standards conformance, IEEE citation conventions.</a:t>
            </a:r>
          </a:p>
          <a:p/>
          <a:p>
            <a:r>
              <a:t>WHAT THE PRESENTER SHOULD EMPHASIZE:</a:t>
            </a:r>
          </a:p>
          <a:p>
            <a:r>
              <a:t>Point out that the project strictly adheres to current official Android security and Supabase RLS specifications published in 2024-2025.</a:t>
            </a:r>
          </a:p>
          <a:p/>
          <a:p>
            <a:r>
              <a:t>TRANSITION TO NEXT SLIDE:</a:t>
            </a:r>
          </a:p>
          <a:p>
            <a:r>
              <a:t>We now conclude with our final Q&amp;A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EXPLANATION:</a:t>
            </a:r>
          </a:p>
          <a:p>
            <a:r>
              <a:t>Thank you respected committee members for your time, attention, and valuable guidance throughout this project. I am now ready to present a live demonstration of the mobile application and address any technical questions you may have.</a:t>
            </a:r>
          </a:p>
          <a:p/>
          <a:p>
            <a:r>
              <a:t>IMPORTANT TECHNICAL CONCEPTS:</a:t>
            </a:r>
          </a:p>
          <a:p>
            <a:r>
              <a:t>Viva preparation, live demonstration readiness, technical defensibility.</a:t>
            </a:r>
          </a:p>
          <a:p/>
          <a:p>
            <a:r>
              <a:t>WHAT THE PRESENTER SHOULD EMPHASIZE:</a:t>
            </a:r>
          </a:p>
          <a:p>
            <a:r>
              <a:t>Invite the committee to begin the Q&amp;A session. State that the live APK and web portals are actively running and available for testing.</a:t>
            </a:r>
          </a:p>
          <a:p/>
          <a:p>
            <a:r>
              <a:t>TRANSITION TO NEXT SLIDE:</a:t>
            </a:r>
          </a:p>
          <a:p>
            <a:r>
              <a:t>End of formal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731520"/>
            <a:ext cx="9445752" cy="5394960"/>
          </a:xfrm>
          <a:prstGeom prst="roundRect">
            <a:avLst/>
          </a:prstGeom>
          <a:solidFill>
            <a:srgbClr val="10182C"/>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011680" y="1097280"/>
            <a:ext cx="8165592" cy="384048"/>
          </a:xfrm>
          <a:prstGeom prst="roundRect">
            <a:avLst/>
          </a:prstGeom>
          <a:solidFill>
            <a:srgbClr val="1C2947"/>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DEPARTMENT OF COMPUTER SCIENCE &amp; ENGINEERING  |  CAPSTONE PROJECT 2025–2026</a:t>
            </a:r>
          </a:p>
        </p:txBody>
      </p:sp>
      <p:sp>
        <p:nvSpPr>
          <p:cNvPr id="5" name="TextBox 4"/>
          <p:cNvSpPr txBox="1"/>
          <p:nvPr/>
        </p:nvSpPr>
        <p:spPr>
          <a:xfrm>
            <a:off x="1828800" y="1691640"/>
            <a:ext cx="8531352" cy="1188720"/>
          </a:xfrm>
          <a:prstGeom prst="rect">
            <a:avLst/>
          </a:prstGeom>
          <a:noFill/>
        </p:spPr>
        <p:txBody>
          <a:bodyPr wrap="square">
            <a:spAutoFit/>
          </a:bodyPr>
          <a:lstStyle/>
          <a:p>
            <a:pPr algn="ctr">
              <a:defRPr sz="3600" b="1">
                <a:solidFill>
                  <a:srgbClr val="F8FAFC"/>
                </a:solidFill>
              </a:defRPr>
            </a:pPr>
            <a:r>
              <a:t>CAMPUS EVENTS CALENDAR</a:t>
            </a:r>
          </a:p>
          <a:p>
            <a:pPr algn="ctr">
              <a:spcBef>
                <a:spcPts val="800"/>
              </a:spcBef>
              <a:defRPr sz="1400">
                <a:solidFill>
                  <a:srgbClr val="1DCD9F"/>
                </a:solidFill>
              </a:defRPr>
            </a:pPr>
            <a:r>
              <a:t>A Full-Stack Distributed Mobile Platform for University Event Discovery, Registration &amp; Verification</a:t>
            </a:r>
          </a:p>
        </p:txBody>
      </p:sp>
      <p:sp>
        <p:nvSpPr>
          <p:cNvPr id="6" name="Rounded Rectangle 5"/>
          <p:cNvSpPr/>
          <p:nvPr/>
        </p:nvSpPr>
        <p:spPr>
          <a:xfrm>
            <a:off x="2286000" y="3291840"/>
            <a:ext cx="3657600" cy="2286000"/>
          </a:xfrm>
          <a:prstGeom prst="roundRect">
            <a:avLst/>
          </a:prstGeom>
          <a:solidFill>
            <a:srgbClr val="182136"/>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8BDF8"/>
                </a:solidFill>
              </a:defRPr>
            </a:pPr>
            <a:r>
              <a:t>STUDENT PRESENTER</a:t>
            </a:r>
          </a:p>
          <a:p>
            <a:pPr>
              <a:spcBef>
                <a:spcPts val="400"/>
              </a:spcBef>
              <a:defRPr sz="1500" b="1">
                <a:solidFill>
                  <a:srgbClr val="F8FAFC"/>
                </a:solidFill>
              </a:defRPr>
            </a:pPr>
            <a:r>
              <a:t>Arjun A K</a:t>
            </a:r>
          </a:p>
          <a:p>
            <a:pPr>
              <a:spcBef>
                <a:spcPts val="400"/>
              </a:spcBef>
              <a:defRPr sz="1000">
                <a:solidFill>
                  <a:srgbClr val="94A3B8"/>
                </a:solidFill>
              </a:defRPr>
            </a:pPr>
            <a:r>
              <a:t>B.Tech Computer Science &amp; Engineering</a:t>
            </a:r>
            <a:br/>
            <a:r>
              <a:t>Reg No: [Candidate Register Number]</a:t>
            </a:r>
            <a:br/>
            <a:r>
              <a:t>GitHub: github.com/arjunak18/campus-events</a:t>
            </a:r>
          </a:p>
        </p:txBody>
      </p:sp>
      <p:sp>
        <p:nvSpPr>
          <p:cNvPr id="7" name="Rounded Rectangle 6"/>
          <p:cNvSpPr/>
          <p:nvPr/>
        </p:nvSpPr>
        <p:spPr>
          <a:xfrm>
            <a:off x="6217920" y="3291840"/>
            <a:ext cx="3657600" cy="2286000"/>
          </a:xfrm>
          <a:prstGeom prst="roundRect">
            <a:avLst/>
          </a:prstGeom>
          <a:solidFill>
            <a:srgbClr val="182136"/>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DCD9F"/>
                </a:solidFill>
              </a:defRPr>
            </a:pPr>
            <a:r>
              <a:t>PROJECT EVALUATION &amp; STATUS</a:t>
            </a:r>
          </a:p>
          <a:p>
            <a:pPr>
              <a:spcBef>
                <a:spcPts val="400"/>
              </a:spcBef>
              <a:defRPr sz="1400" b="1">
                <a:solidFill>
                  <a:srgbClr val="F8FAFC"/>
                </a:solidFill>
              </a:defRPr>
            </a:pPr>
            <a:r>
              <a:t>Production Release v1.0.0 (Build 5)</a:t>
            </a:r>
          </a:p>
          <a:p>
            <a:pPr>
              <a:spcBef>
                <a:spcPts val="400"/>
              </a:spcBef>
              <a:defRPr sz="950">
                <a:solidFill>
                  <a:srgbClr val="94A3B8"/>
                </a:solidFill>
              </a:defRPr>
            </a:pPr>
            <a:r>
              <a:t>• Client: React Native New Architecture (Expo 57)</a:t>
            </a:r>
            <a:br/>
            <a:r>
              <a:t>• API: Node.js Express TypeScript on Render</a:t>
            </a:r>
            <a:br/>
            <a:r>
              <a:t>• DB: Supabase PostgreSQL (Row-Level Security)</a:t>
            </a:r>
            <a:br/>
            <a:r>
              <a:t>• Distribution: Live GitHub Pages &amp; APK Releases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EXECUTIVE ABSTRACT</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02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Project Overview &amp; Engineering Abstract</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Concise summary of the problem, architectural solution, implemented technologies, and verified outcomes.</a:t>
            </a:r>
          </a:p>
        </p:txBody>
      </p:sp>
      <p:sp>
        <p:nvSpPr>
          <p:cNvPr id="7" name="Rounded Rectangle 6"/>
          <p:cNvSpPr/>
          <p:nvPr/>
        </p:nvSpPr>
        <p:spPr>
          <a:xfrm>
            <a:off x="731520" y="1828800"/>
            <a:ext cx="512064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754880" cy="411480"/>
          </a:xfrm>
          <a:prstGeom prst="rect">
            <a:avLst/>
          </a:prstGeom>
          <a:noFill/>
        </p:spPr>
        <p:txBody>
          <a:bodyPr wrap="square">
            <a:spAutoFit/>
          </a:bodyPr>
          <a:lstStyle/>
          <a:p>
            <a:pPr>
              <a:defRPr sz="1300" b="1">
                <a:solidFill>
                  <a:srgbClr val="1DCD9F"/>
                </a:solidFill>
                <a:latin typeface="Arial"/>
              </a:defRPr>
            </a:pPr>
            <a:r>
              <a:t>The Campus Challenge &amp; Objective</a:t>
            </a:r>
          </a:p>
        </p:txBody>
      </p:sp>
      <p:sp>
        <p:nvSpPr>
          <p:cNvPr id="9" name="TextBox 8"/>
          <p:cNvSpPr txBox="1"/>
          <p:nvPr/>
        </p:nvSpPr>
        <p:spPr>
          <a:xfrm>
            <a:off x="1005840" y="2468880"/>
            <a:ext cx="4572000" cy="3566160"/>
          </a:xfrm>
          <a:prstGeom prst="rect">
            <a:avLst/>
          </a:prstGeom>
          <a:noFill/>
        </p:spPr>
        <p:txBody>
          <a:bodyPr wrap="square" tIns="0" bIns="0" lIns="0" rIns="0">
            <a:spAutoFit/>
          </a:bodyPr>
          <a:lstStyle/>
          <a:p>
            <a:pPr>
              <a:spcAft>
                <a:spcPts val="600"/>
              </a:spcAft>
              <a:defRPr sz="1100">
                <a:solidFill>
                  <a:srgbClr val="F8FAFC"/>
                </a:solidFill>
                <a:latin typeface="Arial"/>
              </a:defRPr>
            </a:pPr>
            <a:r>
              <a:t>•  University campuses organize hundreds of technical symposiums, hackathons, sports tournaments, and workshops annually.</a:t>
            </a:r>
          </a:p>
          <a:p>
            <a:pPr>
              <a:spcAft>
                <a:spcPts val="600"/>
              </a:spcAft>
              <a:defRPr sz="1100">
                <a:solidFill>
                  <a:srgbClr val="F8FAFC"/>
                </a:solidFill>
                <a:latin typeface="Arial"/>
              </a:defRPr>
            </a:pPr>
            <a:r>
              <a:t>•  Event notices remain severely fragmented across physical bulletin boards, unmoderated messaging groups, and ephemeral flyers.</a:t>
            </a:r>
          </a:p>
          <a:p>
            <a:pPr>
              <a:spcAft>
                <a:spcPts val="600"/>
              </a:spcAft>
              <a:defRPr sz="1100">
                <a:solidFill>
                  <a:srgbClr val="F8FAFC"/>
                </a:solidFill>
                <a:latin typeface="Arial"/>
              </a:defRPr>
            </a:pPr>
            <a:r>
              <a:t>•  Existing ad-hoc registration flows (e.g., untracked Google Forms) fail to validate student identity, leading to fraudulent entries and manual spreadsheet overhead.</a:t>
            </a:r>
          </a:p>
          <a:p>
            <a:pPr>
              <a:spcAft>
                <a:spcPts val="600"/>
              </a:spcAft>
              <a:defRPr sz="1100">
                <a:solidFill>
                  <a:srgbClr val="F8FAFC"/>
                </a:solidFill>
                <a:latin typeface="Arial"/>
              </a:defRPr>
            </a:pPr>
            <a:r>
              <a:t>•  Primary Objective: Develop a unified, production-ready mobile platform providing synchronized calendar scheduling, strict Google domain identity verification, and tamper-proof database auditing.</a:t>
            </a:r>
          </a:p>
        </p:txBody>
      </p:sp>
      <p:sp>
        <p:nvSpPr>
          <p:cNvPr id="10" name="Rounded Rectangle 9"/>
          <p:cNvSpPr/>
          <p:nvPr/>
        </p:nvSpPr>
        <p:spPr>
          <a:xfrm>
            <a:off x="6217920" y="1828800"/>
            <a:ext cx="5212080" cy="448056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Solution Architecture &amp; Verified Results</a:t>
            </a:r>
          </a:p>
        </p:txBody>
      </p:sp>
      <p:sp>
        <p:nvSpPr>
          <p:cNvPr id="12" name="TextBox 11"/>
          <p:cNvSpPr txBox="1"/>
          <p:nvPr/>
        </p:nvSpPr>
        <p:spPr>
          <a:xfrm>
            <a:off x="6492240" y="2468880"/>
            <a:ext cx="4663440" cy="3566160"/>
          </a:xfrm>
          <a:prstGeom prst="rect">
            <a:avLst/>
          </a:prstGeom>
          <a:noFill/>
        </p:spPr>
        <p:txBody>
          <a:bodyPr wrap="square" tIns="0" bIns="0" lIns="0" rIns="0">
            <a:spAutoFit/>
          </a:bodyPr>
          <a:lstStyle/>
          <a:p>
            <a:pPr>
              <a:spcAft>
                <a:spcPts val="600"/>
              </a:spcAft>
              <a:defRPr sz="1100">
                <a:solidFill>
                  <a:srgbClr val="F8FAFC"/>
                </a:solidFill>
                <a:latin typeface="Arial"/>
              </a:defRPr>
            </a:pPr>
            <a:r>
              <a:t>•  Cross-Platform Native Client: React Native (Expo SDK 57) utilizing the modern Hermes JavaScript engine and TanStack Query state caching.</a:t>
            </a:r>
          </a:p>
          <a:p>
            <a:pPr>
              <a:spcAft>
                <a:spcPts val="600"/>
              </a:spcAft>
              <a:defRPr sz="1100">
                <a:solidFill>
                  <a:srgbClr val="F8FAFC"/>
                </a:solidFill>
                <a:latin typeface="Arial"/>
              </a:defRPr>
            </a:pPr>
            <a:r>
              <a:t>•  Cloud REST Backend: Scalable Node.js / Express TypeScript API deployed continuously on Render with Zod schema validation.</a:t>
            </a:r>
          </a:p>
          <a:p>
            <a:pPr>
              <a:spcAft>
                <a:spcPts val="600"/>
              </a:spcAft>
              <a:defRPr sz="1100">
                <a:solidFill>
                  <a:srgbClr val="F8FAFC"/>
                </a:solidFill>
                <a:latin typeface="Arial"/>
              </a:defRPr>
            </a:pPr>
            <a:r>
              <a:t>•  Security &amp; Relational Database: PostgreSQL 15 on Supabase with declarative Row Level Security (RLS) and GoTrue authentication.</a:t>
            </a:r>
          </a:p>
          <a:p>
            <a:pPr>
              <a:spcAft>
                <a:spcPts val="600"/>
              </a:spcAft>
              <a:defRPr sz="1100">
                <a:solidFill>
                  <a:srgbClr val="F8FAFC"/>
                </a:solidFill>
                <a:latin typeface="Arial"/>
              </a:defRPr>
            </a:pPr>
            <a:r>
              <a:t>•  Verified Deployment: Production release-signed Android APK (Build 5, 60.5 MB) using APK Signature Schemes v2/v3.</a:t>
            </a:r>
          </a:p>
          <a:p>
            <a:pPr>
              <a:spcAft>
                <a:spcPts val="600"/>
              </a:spcAft>
              <a:defRPr sz="1100">
                <a:solidFill>
                  <a:srgbClr val="F8FAFC"/>
                </a:solidFill>
                <a:latin typeface="Arial"/>
              </a:defRPr>
            </a:pPr>
            <a:r>
              <a:t>•  Live Production Distribution: Direct-download landing portal on GitHub Pages and cloud API with sub-100ms latency.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PROJECT CONTEXT</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03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Introduction &amp; Campus Background</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Examining the institutional ecosystem, communication bottlenecks, and stakeholder needs.</a:t>
            </a:r>
          </a:p>
        </p:txBody>
      </p:sp>
      <p:sp>
        <p:nvSpPr>
          <p:cNvPr id="7" name="Rounded Rectangle 6"/>
          <p:cNvSpPr/>
          <p:nvPr/>
        </p:nvSpPr>
        <p:spPr>
          <a:xfrm>
            <a:off x="731520" y="1828800"/>
            <a:ext cx="33832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411480"/>
          </a:xfrm>
          <a:prstGeom prst="rect">
            <a:avLst/>
          </a:prstGeom>
          <a:noFill/>
        </p:spPr>
        <p:txBody>
          <a:bodyPr wrap="square">
            <a:spAutoFit/>
          </a:bodyPr>
          <a:lstStyle/>
          <a:p>
            <a:pPr>
              <a:defRPr sz="1300" b="1">
                <a:solidFill>
                  <a:srgbClr val="1DCD9F"/>
                </a:solidFill>
                <a:latin typeface="Arial"/>
              </a:defRPr>
            </a:pPr>
            <a:r>
              <a:t>Institutional Background</a:t>
            </a:r>
          </a:p>
        </p:txBody>
      </p:sp>
      <p:sp>
        <p:nvSpPr>
          <p:cNvPr id="9" name="TextBox 8"/>
          <p:cNvSpPr txBox="1"/>
          <p:nvPr/>
        </p:nvSpPr>
        <p:spPr>
          <a:xfrm>
            <a:off x="914400" y="2468880"/>
            <a:ext cx="3017520" cy="3566160"/>
          </a:xfrm>
          <a:prstGeom prst="rect">
            <a:avLst/>
          </a:prstGeom>
          <a:noFill/>
        </p:spPr>
        <p:txBody>
          <a:bodyPr wrap="square" tIns="0" bIns="0" lIns="0" rIns="0">
            <a:spAutoFit/>
          </a:bodyPr>
          <a:lstStyle/>
          <a:p>
            <a:pPr>
              <a:spcAft>
                <a:spcPts val="600"/>
              </a:spcAft>
              <a:defRPr sz="1050">
                <a:solidFill>
                  <a:srgbClr val="F8FAFC"/>
                </a:solidFill>
                <a:latin typeface="Arial"/>
              </a:defRPr>
            </a:pPr>
            <a:r>
              <a:t>•  Modern universities operate as micro-cities with tens of departments, clubs, and sports councils.</a:t>
            </a:r>
          </a:p>
          <a:p>
            <a:pPr>
              <a:spcAft>
                <a:spcPts val="600"/>
              </a:spcAft>
              <a:defRPr sz="1050">
                <a:solidFill>
                  <a:srgbClr val="F8FAFC"/>
                </a:solidFill>
                <a:latin typeface="Arial"/>
              </a:defRPr>
            </a:pPr>
            <a:r>
              <a:t>•  Each entity independently schedules guest lectures, competitions, and workshops.</a:t>
            </a:r>
          </a:p>
          <a:p>
            <a:pPr>
              <a:spcAft>
                <a:spcPts val="600"/>
              </a:spcAft>
              <a:defRPr sz="1050">
                <a:solidFill>
                  <a:srgbClr val="F8FAFC"/>
                </a:solidFill>
                <a:latin typeface="Arial"/>
              </a:defRPr>
            </a:pPr>
            <a:r>
              <a:t>•  There is no single source of truth for campus dates, leading to timetable clashes and depleted attendance.</a:t>
            </a:r>
          </a:p>
          <a:p>
            <a:pPr>
              <a:spcAft>
                <a:spcPts val="600"/>
              </a:spcAft>
              <a:defRPr sz="1050">
                <a:solidFill>
                  <a:srgbClr val="F8FAFC"/>
                </a:solidFill>
                <a:latin typeface="Arial"/>
              </a:defRPr>
            </a:pPr>
            <a:r>
              <a:t>•  Students frequently learn about opportunities only after registration deadlines have elapsed.</a:t>
            </a:r>
          </a:p>
        </p:txBody>
      </p:sp>
      <p:sp>
        <p:nvSpPr>
          <p:cNvPr id="10" name="Rounded Rectangle 9"/>
          <p:cNvSpPr/>
          <p:nvPr/>
        </p:nvSpPr>
        <p:spPr>
          <a:xfrm>
            <a:off x="4389120" y="1828800"/>
            <a:ext cx="33832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017520" cy="411480"/>
          </a:xfrm>
          <a:prstGeom prst="rect">
            <a:avLst/>
          </a:prstGeom>
          <a:noFill/>
        </p:spPr>
        <p:txBody>
          <a:bodyPr wrap="square">
            <a:spAutoFit/>
          </a:bodyPr>
          <a:lstStyle/>
          <a:p>
            <a:pPr>
              <a:defRPr sz="1300" b="1">
                <a:solidFill>
                  <a:srgbClr val="1DCD9F"/>
                </a:solidFill>
                <a:latin typeface="Arial"/>
              </a:defRPr>
            </a:pPr>
            <a:r>
              <a:t>Why a Dedicated App is Vital</a:t>
            </a:r>
          </a:p>
        </p:txBody>
      </p:sp>
      <p:sp>
        <p:nvSpPr>
          <p:cNvPr id="12" name="TextBox 11"/>
          <p:cNvSpPr txBox="1"/>
          <p:nvPr/>
        </p:nvSpPr>
        <p:spPr>
          <a:xfrm>
            <a:off x="4572000" y="2468880"/>
            <a:ext cx="3017520" cy="3566160"/>
          </a:xfrm>
          <a:prstGeom prst="rect">
            <a:avLst/>
          </a:prstGeom>
          <a:noFill/>
        </p:spPr>
        <p:txBody>
          <a:bodyPr wrap="square" tIns="0" bIns="0" lIns="0" rIns="0">
            <a:spAutoFit/>
          </a:bodyPr>
          <a:lstStyle/>
          <a:p>
            <a:pPr>
              <a:spcAft>
                <a:spcPts val="600"/>
              </a:spcAft>
              <a:defRPr sz="1050">
                <a:solidFill>
                  <a:srgbClr val="F8FAFC"/>
                </a:solidFill>
                <a:latin typeface="Arial"/>
              </a:defRPr>
            </a:pPr>
            <a:r>
              <a:t>•  Mobile-First Access: Over 98% of university students access digital campus services primarily via smartphones.</a:t>
            </a:r>
          </a:p>
          <a:p>
            <a:pPr>
              <a:spcAft>
                <a:spcPts val="600"/>
              </a:spcAft>
              <a:defRPr sz="1050">
                <a:solidFill>
                  <a:srgbClr val="F8FAFC"/>
                </a:solidFill>
                <a:latin typeface="Arial"/>
              </a:defRPr>
            </a:pPr>
            <a:r>
              <a:t>•  Centralized Categorization: Immediate filtering between Technical, Cultural, Sports, and Academic events.</a:t>
            </a:r>
          </a:p>
          <a:p>
            <a:pPr>
              <a:spcAft>
                <a:spcPts val="600"/>
              </a:spcAft>
              <a:defRPr sz="1050">
                <a:solidFill>
                  <a:srgbClr val="F8FAFC"/>
                </a:solidFill>
                <a:latin typeface="Arial"/>
              </a:defRPr>
            </a:pPr>
            <a:r>
              <a:t>•  Offline-Capable Bookmarks: Students save events to local storage for quick review without active cellular connectivity.</a:t>
            </a:r>
          </a:p>
          <a:p>
            <a:pPr>
              <a:spcAft>
                <a:spcPts val="600"/>
              </a:spcAft>
              <a:defRPr sz="1050">
                <a:solidFill>
                  <a:srgbClr val="F8FAFC"/>
                </a:solidFill>
                <a:latin typeface="Arial"/>
              </a:defRPr>
            </a:pPr>
            <a:r>
              <a:t>•  Tamper-Resistant Submissions: Verified event organizers publish events with clear capacity caps and verified venues.</a:t>
            </a:r>
          </a:p>
        </p:txBody>
      </p:sp>
      <p:sp>
        <p:nvSpPr>
          <p:cNvPr id="13" name="Rounded Rectangle 12"/>
          <p:cNvSpPr/>
          <p:nvPr/>
        </p:nvSpPr>
        <p:spPr>
          <a:xfrm>
            <a:off x="8046720" y="1828800"/>
            <a:ext cx="33832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65960"/>
            <a:ext cx="3017520" cy="411480"/>
          </a:xfrm>
          <a:prstGeom prst="rect">
            <a:avLst/>
          </a:prstGeom>
          <a:noFill/>
        </p:spPr>
        <p:txBody>
          <a:bodyPr wrap="square">
            <a:spAutoFit/>
          </a:bodyPr>
          <a:lstStyle/>
          <a:p>
            <a:pPr>
              <a:defRPr sz="1300" b="1">
                <a:solidFill>
                  <a:srgbClr val="1DCD9F"/>
                </a:solidFill>
                <a:latin typeface="Arial"/>
              </a:defRPr>
            </a:pPr>
            <a:r>
              <a:t>Target Stakeholder Roles</a:t>
            </a:r>
          </a:p>
        </p:txBody>
      </p:sp>
      <p:sp>
        <p:nvSpPr>
          <p:cNvPr id="15" name="TextBox 14"/>
          <p:cNvSpPr txBox="1"/>
          <p:nvPr/>
        </p:nvSpPr>
        <p:spPr>
          <a:xfrm>
            <a:off x="8229600" y="2468880"/>
            <a:ext cx="3017520" cy="3566160"/>
          </a:xfrm>
          <a:prstGeom prst="rect">
            <a:avLst/>
          </a:prstGeom>
          <a:noFill/>
        </p:spPr>
        <p:txBody>
          <a:bodyPr wrap="square" tIns="0" bIns="0" lIns="0" rIns="0">
            <a:spAutoFit/>
          </a:bodyPr>
          <a:lstStyle/>
          <a:p>
            <a:pPr>
              <a:spcAft>
                <a:spcPts val="600"/>
              </a:spcAft>
              <a:defRPr sz="1050">
                <a:solidFill>
                  <a:srgbClr val="F8FAFC"/>
                </a:solidFill>
                <a:latin typeface="Arial"/>
              </a:defRPr>
            </a:pPr>
            <a:r>
              <a:t>•  Undergraduate / PG Students: Discover, bookmark, and register for campus activities effortlessly.</a:t>
            </a:r>
          </a:p>
          <a:p>
            <a:pPr>
              <a:spcAft>
                <a:spcPts val="600"/>
              </a:spcAft>
              <a:defRPr sz="1050">
                <a:solidFill>
                  <a:srgbClr val="F8FAFC"/>
                </a:solidFill>
                <a:latin typeface="Arial"/>
              </a:defRPr>
            </a:pPr>
            <a:r>
              <a:t>•  Student Club Coordinators: Publish event posters, manage registration quotas, and track attendee metrics.</a:t>
            </a:r>
          </a:p>
          <a:p>
            <a:pPr>
              <a:spcAft>
                <a:spcPts val="600"/>
              </a:spcAft>
              <a:defRPr sz="1050">
                <a:solidFill>
                  <a:srgbClr val="F8FAFC"/>
                </a:solidFill>
                <a:latin typeface="Arial"/>
              </a:defRPr>
            </a:pPr>
            <a:r>
              <a:t>•  Faculty Event In-Charges: Maintain official department calendars and ensure accurate scheduling.</a:t>
            </a:r>
          </a:p>
          <a:p>
            <a:pPr>
              <a:spcAft>
                <a:spcPts val="600"/>
              </a:spcAft>
              <a:defRPr sz="1050">
                <a:solidFill>
                  <a:srgbClr val="F8FAFC"/>
                </a:solidFill>
                <a:latin typeface="Arial"/>
              </a:defRPr>
            </a:pPr>
            <a:r>
              <a:t>•  Campus Security &amp; IT Admins: Audit sign-in history, monitor system load, and prevent unauthorized account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PROBLEM FORMULATION</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04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Problem Statement &amp; Current Campus Inefficiencies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Detailed breakdown of the four critical communication and administrative breakdowns.</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1. Communication Fragmentation</a:t>
            </a:r>
          </a:p>
        </p:txBody>
      </p:sp>
      <p:sp>
        <p:nvSpPr>
          <p:cNvPr id="9" name="TextBox 8"/>
          <p:cNvSpPr txBox="1"/>
          <p:nvPr/>
        </p:nvSpPr>
        <p:spPr>
          <a:xfrm>
            <a:off x="914400" y="237744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Information is scattered across physical pin-boards, random WhatsApp forwards, and cluttered email digests.</a:t>
            </a:r>
          </a:p>
          <a:p>
            <a:pPr>
              <a:spcAft>
                <a:spcPts val="600"/>
              </a:spcAft>
              <a:defRPr sz="1000">
                <a:solidFill>
                  <a:srgbClr val="F8FAFC"/>
                </a:solidFill>
                <a:latin typeface="Arial"/>
              </a:defRPr>
            </a:pPr>
            <a:r>
              <a:t>•  Crucial notices are lost under casual conversations and spam.</a:t>
            </a:r>
          </a:p>
          <a:p>
            <a:pPr>
              <a:spcAft>
                <a:spcPts val="600"/>
              </a:spcAft>
              <a:defRPr sz="1000">
                <a:solidFill>
                  <a:srgbClr val="F8FAFC"/>
                </a:solidFill>
                <a:latin typeface="Arial"/>
              </a:defRPr>
            </a:pPr>
            <a:r>
              <a:t>•  No searchable archive exists for past or upcoming university events.</a:t>
            </a:r>
          </a:p>
        </p:txBody>
      </p:sp>
      <p:sp>
        <p:nvSpPr>
          <p:cNvPr id="10" name="Rounded Rectangle 9"/>
          <p:cNvSpPr/>
          <p:nvPr/>
        </p:nvSpPr>
        <p:spPr>
          <a:xfrm>
            <a:off x="6217920" y="1828800"/>
            <a:ext cx="5212080" cy="2148840"/>
          </a:xfrm>
          <a:prstGeom prst="roundRect">
            <a:avLst/>
          </a:prstGeom>
          <a:solidFill>
            <a:srgbClr val="182136"/>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2. Registration &amp; Identity Chaos</a:t>
            </a:r>
          </a:p>
        </p:txBody>
      </p:sp>
      <p:sp>
        <p:nvSpPr>
          <p:cNvPr id="12" name="TextBox 11"/>
          <p:cNvSpPr txBox="1"/>
          <p:nvPr/>
        </p:nvSpPr>
        <p:spPr>
          <a:xfrm>
            <a:off x="6400800" y="237744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Organizers rely on unregulated Google Forms that accept arbitrary, unverified email inputs.</a:t>
            </a:r>
          </a:p>
          <a:p>
            <a:pPr>
              <a:spcAft>
                <a:spcPts val="600"/>
              </a:spcAft>
              <a:defRPr sz="1000">
                <a:solidFill>
                  <a:srgbClr val="F8FAFC"/>
                </a:solidFill>
                <a:latin typeface="Arial"/>
              </a:defRPr>
            </a:pPr>
            <a:r>
              <a:t>•  Students frequently register with mistyped, fake, or non-existent email addresses.</a:t>
            </a:r>
          </a:p>
          <a:p>
            <a:pPr>
              <a:spcAft>
                <a:spcPts val="600"/>
              </a:spcAft>
              <a:defRPr sz="1000">
                <a:solidFill>
                  <a:srgbClr val="F8FAFC"/>
                </a:solidFill>
                <a:latin typeface="Arial"/>
              </a:defRPr>
            </a:pPr>
            <a:r>
              <a:t>•  No automated capacity enforcement leads to overbooking and venue overcrowding.</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3. Schedule Clashes &amp; Missed Deadlines</a:t>
            </a:r>
          </a:p>
        </p:txBody>
      </p:sp>
      <p:sp>
        <p:nvSpPr>
          <p:cNvPr id="15" name="TextBox 14"/>
          <p:cNvSpPr txBox="1"/>
          <p:nvPr/>
        </p:nvSpPr>
        <p:spPr>
          <a:xfrm>
            <a:off x="914400" y="475488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Departments host flagship symposiums on overlapping dates due to lack of an institutional calendar.</a:t>
            </a:r>
          </a:p>
          <a:p>
            <a:pPr>
              <a:spcAft>
                <a:spcPts val="600"/>
              </a:spcAft>
              <a:defRPr sz="1000">
                <a:solidFill>
                  <a:srgbClr val="F8FAFC"/>
                </a:solidFill>
                <a:latin typeface="Arial"/>
              </a:defRPr>
            </a:pPr>
            <a:r>
              <a:t>•  Students have no direct mechanism to sync campus event dates with their personal calendars.</a:t>
            </a:r>
          </a:p>
          <a:p>
            <a:pPr>
              <a:spcAft>
                <a:spcPts val="600"/>
              </a:spcAft>
              <a:defRPr sz="1000">
                <a:solidFill>
                  <a:srgbClr val="F8FAFC"/>
                </a:solidFill>
                <a:latin typeface="Arial"/>
              </a:defRPr>
            </a:pPr>
            <a:r>
              <a:t>•  Event updates, venue changes, or postponements fail to reach registered participants in time.</a:t>
            </a:r>
          </a:p>
        </p:txBody>
      </p:sp>
      <p:sp>
        <p:nvSpPr>
          <p:cNvPr id="16" name="Rounded Rectangle 15"/>
          <p:cNvSpPr/>
          <p:nvPr/>
        </p:nvSpPr>
        <p:spPr>
          <a:xfrm>
            <a:off x="62179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4. Administrative Data Isolation</a:t>
            </a:r>
          </a:p>
        </p:txBody>
      </p:sp>
      <p:sp>
        <p:nvSpPr>
          <p:cNvPr id="18" name="TextBox 17"/>
          <p:cNvSpPr txBox="1"/>
          <p:nvPr/>
        </p:nvSpPr>
        <p:spPr>
          <a:xfrm>
            <a:off x="6400800" y="475488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Attendee data is trapped in disconnected spreadsheets on personal organizer laptops.</a:t>
            </a:r>
          </a:p>
          <a:p>
            <a:pPr>
              <a:spcAft>
                <a:spcPts val="600"/>
              </a:spcAft>
              <a:defRPr sz="1000">
                <a:solidFill>
                  <a:srgbClr val="F8FAFC"/>
                </a:solidFill>
                <a:latin typeface="Arial"/>
              </a:defRPr>
            </a:pPr>
            <a:r>
              <a:t>•  Absence of centralized access controls and user authentication audit logs.</a:t>
            </a:r>
          </a:p>
          <a:p>
            <a:pPr>
              <a:spcAft>
                <a:spcPts val="600"/>
              </a:spcAft>
              <a:defRPr sz="1000">
                <a:solidFill>
                  <a:srgbClr val="F8FAFC"/>
                </a:solidFill>
                <a:latin typeface="Arial"/>
              </a:defRPr>
            </a:pPr>
            <a:r>
              <a:t>•  High vulnerability to data loss, unauthorized data modification, and zero auditability.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PROJECT SCOPE</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05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Project Objectives &amp; Technical Scope</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Concrete, measurable engineering goals defined for the full-stack system implementation.</a:t>
            </a:r>
          </a:p>
        </p:txBody>
      </p:sp>
      <p:sp>
        <p:nvSpPr>
          <p:cNvPr id="7" name="Rounded Rectangle 6"/>
          <p:cNvSpPr/>
          <p:nvPr/>
        </p:nvSpPr>
        <p:spPr>
          <a:xfrm>
            <a:off x="731520" y="1828800"/>
            <a:ext cx="33832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411480"/>
          </a:xfrm>
          <a:prstGeom prst="rect">
            <a:avLst/>
          </a:prstGeom>
          <a:noFill/>
        </p:spPr>
        <p:txBody>
          <a:bodyPr wrap="square">
            <a:spAutoFit/>
          </a:bodyPr>
          <a:lstStyle/>
          <a:p>
            <a:pPr>
              <a:defRPr sz="1300" b="1">
                <a:solidFill>
                  <a:srgbClr val="1DCD9F"/>
                </a:solidFill>
                <a:latin typeface="Arial"/>
              </a:defRPr>
            </a:pPr>
            <a:r>
              <a:t>OBJ-1: Native Mobile Client</a:t>
            </a:r>
          </a:p>
        </p:txBody>
      </p:sp>
      <p:sp>
        <p:nvSpPr>
          <p:cNvPr id="9" name="TextBox 8"/>
          <p:cNvSpPr txBox="1"/>
          <p:nvPr/>
        </p:nvSpPr>
        <p:spPr>
          <a:xfrm>
            <a:off x="914400" y="2423160"/>
            <a:ext cx="3017520" cy="1371600"/>
          </a:xfrm>
          <a:prstGeom prst="rect">
            <a:avLst/>
          </a:prstGeom>
          <a:noFill/>
        </p:spPr>
        <p:txBody>
          <a:bodyPr wrap="square">
            <a:spAutoFit/>
          </a:bodyPr>
          <a:lstStyle/>
          <a:p>
            <a:pPr>
              <a:defRPr sz="1050">
                <a:solidFill>
                  <a:srgbClr val="94A3B8"/>
                </a:solidFill>
                <a:latin typeface="Arial"/>
              </a:defRPr>
            </a:pPr>
            <a:r>
              <a:t>Develop a responsive, high-performance Android mobile client using React Native (Expo 57) featuring an interactive day-by-day calendar and category filter.</a:t>
            </a:r>
          </a:p>
        </p:txBody>
      </p:sp>
      <p:sp>
        <p:nvSpPr>
          <p:cNvPr id="10" name="Rounded Rectangle 9"/>
          <p:cNvSpPr/>
          <p:nvPr/>
        </p:nvSpPr>
        <p:spPr>
          <a:xfrm>
            <a:off x="4389120" y="1828800"/>
            <a:ext cx="33832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017520" cy="411480"/>
          </a:xfrm>
          <a:prstGeom prst="rect">
            <a:avLst/>
          </a:prstGeom>
          <a:noFill/>
        </p:spPr>
        <p:txBody>
          <a:bodyPr wrap="square">
            <a:spAutoFit/>
          </a:bodyPr>
          <a:lstStyle/>
          <a:p>
            <a:pPr>
              <a:defRPr sz="1300" b="1">
                <a:solidFill>
                  <a:srgbClr val="1DCD9F"/>
                </a:solidFill>
                <a:latin typeface="Arial"/>
              </a:defRPr>
            </a:pPr>
            <a:r>
              <a:t>OBJ-2: Zero-Trust Identity</a:t>
            </a:r>
          </a:p>
        </p:txBody>
      </p:sp>
      <p:sp>
        <p:nvSpPr>
          <p:cNvPr id="12" name="TextBox 11"/>
          <p:cNvSpPr txBox="1"/>
          <p:nvPr/>
        </p:nvSpPr>
        <p:spPr>
          <a:xfrm>
            <a:off x="4572000" y="2423160"/>
            <a:ext cx="3017520" cy="1371600"/>
          </a:xfrm>
          <a:prstGeom prst="rect">
            <a:avLst/>
          </a:prstGeom>
          <a:noFill/>
        </p:spPr>
        <p:txBody>
          <a:bodyPr wrap="square">
            <a:spAutoFit/>
          </a:bodyPr>
          <a:lstStyle/>
          <a:p>
            <a:pPr>
              <a:defRPr sz="1050">
                <a:solidFill>
                  <a:srgbClr val="94A3B8"/>
                </a:solidFill>
                <a:latin typeface="Arial"/>
              </a:defRPr>
            </a:pPr>
            <a:r>
              <a:t>Implement strict Google/Gmail address regex validation coupled with Supabase GoTrue email confirmation to eliminate fraudulent signups entirely.</a:t>
            </a:r>
          </a:p>
        </p:txBody>
      </p:sp>
      <p:sp>
        <p:nvSpPr>
          <p:cNvPr id="13" name="Rounded Rectangle 12"/>
          <p:cNvSpPr/>
          <p:nvPr/>
        </p:nvSpPr>
        <p:spPr>
          <a:xfrm>
            <a:off x="8046720" y="1828800"/>
            <a:ext cx="33832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65960"/>
            <a:ext cx="3017520" cy="411480"/>
          </a:xfrm>
          <a:prstGeom prst="rect">
            <a:avLst/>
          </a:prstGeom>
          <a:noFill/>
        </p:spPr>
        <p:txBody>
          <a:bodyPr wrap="square">
            <a:spAutoFit/>
          </a:bodyPr>
          <a:lstStyle/>
          <a:p>
            <a:pPr>
              <a:defRPr sz="1300" b="1">
                <a:solidFill>
                  <a:srgbClr val="1DCD9F"/>
                </a:solidFill>
                <a:latin typeface="Arial"/>
              </a:defRPr>
            </a:pPr>
            <a:r>
              <a:t>OBJ-3: Robust REST API</a:t>
            </a:r>
          </a:p>
        </p:txBody>
      </p:sp>
      <p:sp>
        <p:nvSpPr>
          <p:cNvPr id="15" name="TextBox 14"/>
          <p:cNvSpPr txBox="1"/>
          <p:nvPr/>
        </p:nvSpPr>
        <p:spPr>
          <a:xfrm>
            <a:off x="8229600" y="2423160"/>
            <a:ext cx="3017520" cy="1371600"/>
          </a:xfrm>
          <a:prstGeom prst="rect">
            <a:avLst/>
          </a:prstGeom>
          <a:noFill/>
        </p:spPr>
        <p:txBody>
          <a:bodyPr wrap="square">
            <a:spAutoFit/>
          </a:bodyPr>
          <a:lstStyle/>
          <a:p>
            <a:pPr>
              <a:defRPr sz="1050">
                <a:solidFill>
                  <a:srgbClr val="94A3B8"/>
                </a:solidFill>
                <a:latin typeface="Arial"/>
              </a:defRPr>
            </a:pPr>
            <a:r>
              <a:t>Construct a Node.js / Express TypeScript backend service with Zod schema validation, CORS security, rate limiting, and centralized error middleware.</a:t>
            </a:r>
          </a:p>
        </p:txBody>
      </p:sp>
      <p:sp>
        <p:nvSpPr>
          <p:cNvPr id="16" name="Rounded Rectangle 15"/>
          <p:cNvSpPr/>
          <p:nvPr/>
        </p:nvSpPr>
        <p:spPr>
          <a:xfrm>
            <a:off x="731520" y="4206240"/>
            <a:ext cx="33832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3017520" cy="411480"/>
          </a:xfrm>
          <a:prstGeom prst="rect">
            <a:avLst/>
          </a:prstGeom>
          <a:noFill/>
        </p:spPr>
        <p:txBody>
          <a:bodyPr wrap="square">
            <a:spAutoFit/>
          </a:bodyPr>
          <a:lstStyle/>
          <a:p>
            <a:pPr>
              <a:defRPr sz="1300" b="1">
                <a:solidFill>
                  <a:srgbClr val="1DCD9F"/>
                </a:solidFill>
                <a:latin typeface="Arial"/>
              </a:defRPr>
            </a:pPr>
            <a:r>
              <a:t>OBJ-4: Relational DB with RLS</a:t>
            </a:r>
          </a:p>
        </p:txBody>
      </p:sp>
      <p:sp>
        <p:nvSpPr>
          <p:cNvPr id="18" name="TextBox 17"/>
          <p:cNvSpPr txBox="1"/>
          <p:nvPr/>
        </p:nvSpPr>
        <p:spPr>
          <a:xfrm>
            <a:off x="914400" y="4800600"/>
            <a:ext cx="3017520" cy="1371600"/>
          </a:xfrm>
          <a:prstGeom prst="rect">
            <a:avLst/>
          </a:prstGeom>
          <a:noFill/>
        </p:spPr>
        <p:txBody>
          <a:bodyPr wrap="square">
            <a:spAutoFit/>
          </a:bodyPr>
          <a:lstStyle/>
          <a:p>
            <a:pPr>
              <a:defRPr sz="1050">
                <a:solidFill>
                  <a:srgbClr val="94A3B8"/>
                </a:solidFill>
                <a:latin typeface="Arial"/>
              </a:defRPr>
            </a:pPr>
            <a:r>
              <a:t>Design a normalized PostgreSQL database schema enforcing declarative Row Level Security (RLS) to guarantee multi-tenant student privacy.</a:t>
            </a:r>
          </a:p>
        </p:txBody>
      </p:sp>
      <p:sp>
        <p:nvSpPr>
          <p:cNvPr id="19" name="Rounded Rectangle 18"/>
          <p:cNvSpPr/>
          <p:nvPr/>
        </p:nvSpPr>
        <p:spPr>
          <a:xfrm>
            <a:off x="4389120" y="4206240"/>
            <a:ext cx="33832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0" y="4343400"/>
            <a:ext cx="3017520" cy="411480"/>
          </a:xfrm>
          <a:prstGeom prst="rect">
            <a:avLst/>
          </a:prstGeom>
          <a:noFill/>
        </p:spPr>
        <p:txBody>
          <a:bodyPr wrap="square">
            <a:spAutoFit/>
          </a:bodyPr>
          <a:lstStyle/>
          <a:p>
            <a:pPr>
              <a:defRPr sz="1300" b="1">
                <a:solidFill>
                  <a:srgbClr val="1DCD9F"/>
                </a:solidFill>
                <a:latin typeface="Arial"/>
              </a:defRPr>
            </a:pPr>
            <a:r>
              <a:t>OBJ-5: Security Audit Logging</a:t>
            </a:r>
          </a:p>
        </p:txBody>
      </p:sp>
      <p:sp>
        <p:nvSpPr>
          <p:cNvPr id="21" name="TextBox 20"/>
          <p:cNvSpPr txBox="1"/>
          <p:nvPr/>
        </p:nvSpPr>
        <p:spPr>
          <a:xfrm>
            <a:off x="4572000" y="4800600"/>
            <a:ext cx="3017520" cy="1371600"/>
          </a:xfrm>
          <a:prstGeom prst="rect">
            <a:avLst/>
          </a:prstGeom>
          <a:noFill/>
        </p:spPr>
        <p:txBody>
          <a:bodyPr wrap="square">
            <a:spAutoFit/>
          </a:bodyPr>
          <a:lstStyle/>
          <a:p>
            <a:pPr>
              <a:defRPr sz="1050">
                <a:solidFill>
                  <a:srgbClr val="94A3B8"/>
                </a:solidFill>
                <a:latin typeface="Arial"/>
              </a:defRPr>
            </a:pPr>
            <a:r>
              <a:t>Create an automated sign-in tracking subsystem that logs authentication timestamps, IP addresses, client devices, and login counts to a secure audit table.</a:t>
            </a:r>
          </a:p>
        </p:txBody>
      </p:sp>
      <p:sp>
        <p:nvSpPr>
          <p:cNvPr id="22" name="Rounded Rectangle 21"/>
          <p:cNvSpPr/>
          <p:nvPr/>
        </p:nvSpPr>
        <p:spPr>
          <a:xfrm>
            <a:off x="8046720" y="4206240"/>
            <a:ext cx="33832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4343400"/>
            <a:ext cx="3017520" cy="411480"/>
          </a:xfrm>
          <a:prstGeom prst="rect">
            <a:avLst/>
          </a:prstGeom>
          <a:noFill/>
        </p:spPr>
        <p:txBody>
          <a:bodyPr wrap="square">
            <a:spAutoFit/>
          </a:bodyPr>
          <a:lstStyle/>
          <a:p>
            <a:pPr>
              <a:defRPr sz="1300" b="1">
                <a:solidFill>
                  <a:srgbClr val="1DCD9F"/>
                </a:solidFill>
                <a:latin typeface="Arial"/>
              </a:defRPr>
            </a:pPr>
            <a:r>
              <a:t>OBJ-6: Production Distribution</a:t>
            </a:r>
          </a:p>
        </p:txBody>
      </p:sp>
      <p:sp>
        <p:nvSpPr>
          <p:cNvPr id="24" name="TextBox 23"/>
          <p:cNvSpPr txBox="1"/>
          <p:nvPr/>
        </p:nvSpPr>
        <p:spPr>
          <a:xfrm>
            <a:off x="8229600" y="4800600"/>
            <a:ext cx="3017520" cy="1371600"/>
          </a:xfrm>
          <a:prstGeom prst="rect">
            <a:avLst/>
          </a:prstGeom>
          <a:noFill/>
        </p:spPr>
        <p:txBody>
          <a:bodyPr wrap="square">
            <a:spAutoFit/>
          </a:bodyPr>
          <a:lstStyle/>
          <a:p>
            <a:pPr>
              <a:defRPr sz="1050">
                <a:solidFill>
                  <a:srgbClr val="94A3B8"/>
                </a:solidFill>
                <a:latin typeface="Arial"/>
              </a:defRPr>
            </a:pPr>
            <a:r>
              <a:t>Compile, sign with production RSA keystores (v2/v3 schemes), and deploy a standalone APK with an automated GitHub Pages distribution landing page.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CURRENT LANDSCAPE</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06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Existing Systems &amp; Architectural Limitations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Analyzing traditional campus communication mechanisms and commercial event software.</a:t>
            </a:r>
          </a:p>
        </p:txBody>
      </p:sp>
      <p:sp>
        <p:nvSpPr>
          <p:cNvPr id="7" name="Rounded Rectangle 6"/>
          <p:cNvSpPr/>
          <p:nvPr/>
        </p:nvSpPr>
        <p:spPr>
          <a:xfrm>
            <a:off x="731520" y="1828800"/>
            <a:ext cx="10698480" cy="137160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10332720" cy="411480"/>
          </a:xfrm>
          <a:prstGeom prst="rect">
            <a:avLst/>
          </a:prstGeom>
          <a:noFill/>
        </p:spPr>
        <p:txBody>
          <a:bodyPr wrap="square">
            <a:spAutoFit/>
          </a:bodyPr>
          <a:lstStyle/>
          <a:p>
            <a:pPr>
              <a:defRPr sz="1300" b="1">
                <a:solidFill>
                  <a:srgbClr val="1DCD9F"/>
                </a:solidFill>
                <a:latin typeface="Arial"/>
              </a:defRPr>
            </a:pPr>
            <a:r>
              <a:t>Physical Notice Boards &amp; Printed Posters</a:t>
            </a:r>
          </a:p>
        </p:txBody>
      </p:sp>
      <p:sp>
        <p:nvSpPr>
          <p:cNvPr id="9" name="TextBox 8"/>
          <p:cNvSpPr txBox="1"/>
          <p:nvPr/>
        </p:nvSpPr>
        <p:spPr>
          <a:xfrm>
            <a:off x="1005840" y="2286000"/>
            <a:ext cx="10149840" cy="822960"/>
          </a:xfrm>
          <a:prstGeom prst="rect">
            <a:avLst/>
          </a:prstGeom>
          <a:noFill/>
        </p:spPr>
        <p:txBody>
          <a:bodyPr wrap="square" tIns="0" bIns="0" lIns="0" rIns="0">
            <a:spAutoFit/>
          </a:bodyPr>
          <a:lstStyle/>
          <a:p>
            <a:pPr>
              <a:spcAft>
                <a:spcPts val="600"/>
              </a:spcAft>
              <a:defRPr sz="1000">
                <a:solidFill>
                  <a:srgbClr val="F8FAFC"/>
                </a:solidFill>
                <a:latin typeface="Arial"/>
              </a:defRPr>
            </a:pPr>
            <a:r>
              <a:t>•  Zero Searchability: Requires physical proximity; cannot be indexed, sorted, or filtered by department.</a:t>
            </a:r>
          </a:p>
          <a:p>
            <a:pPr>
              <a:spcAft>
                <a:spcPts val="600"/>
              </a:spcAft>
              <a:defRPr sz="1000">
                <a:solidFill>
                  <a:srgbClr val="F8FAFC"/>
                </a:solidFill>
                <a:latin typeface="Arial"/>
              </a:defRPr>
            </a:pPr>
            <a:r>
              <a:t>•  Static &amp; Ephemeral: Posters are frequently torn down or covered; cannot broadcast venue changes or cancellations.</a:t>
            </a:r>
          </a:p>
          <a:p>
            <a:pPr>
              <a:spcAft>
                <a:spcPts val="600"/>
              </a:spcAft>
              <a:defRPr sz="1000">
                <a:solidFill>
                  <a:srgbClr val="F8FAFC"/>
                </a:solidFill>
                <a:latin typeface="Arial"/>
              </a:defRPr>
            </a:pPr>
            <a:r>
              <a:t>•  Environmental &amp; Financial Waste: Heavy printing costs with negligible student engagement verification.</a:t>
            </a:r>
          </a:p>
        </p:txBody>
      </p:sp>
      <p:sp>
        <p:nvSpPr>
          <p:cNvPr id="10" name="Rounded Rectangle 9"/>
          <p:cNvSpPr/>
          <p:nvPr/>
        </p:nvSpPr>
        <p:spPr>
          <a:xfrm>
            <a:off x="731520" y="3383280"/>
            <a:ext cx="10698480" cy="137160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20440"/>
            <a:ext cx="10332720" cy="411480"/>
          </a:xfrm>
          <a:prstGeom prst="rect">
            <a:avLst/>
          </a:prstGeom>
          <a:noFill/>
        </p:spPr>
        <p:txBody>
          <a:bodyPr wrap="square">
            <a:spAutoFit/>
          </a:bodyPr>
          <a:lstStyle/>
          <a:p>
            <a:pPr>
              <a:defRPr sz="1300" b="1">
                <a:solidFill>
                  <a:srgbClr val="1DCD9F"/>
                </a:solidFill>
                <a:latin typeface="Arial"/>
              </a:defRPr>
            </a:pPr>
            <a:r>
              <a:t>Social Chat Groups (WhatsApp / Telegram / Instagram)</a:t>
            </a:r>
          </a:p>
        </p:txBody>
      </p:sp>
      <p:sp>
        <p:nvSpPr>
          <p:cNvPr id="12" name="TextBox 11"/>
          <p:cNvSpPr txBox="1"/>
          <p:nvPr/>
        </p:nvSpPr>
        <p:spPr>
          <a:xfrm>
            <a:off x="1005840" y="3840480"/>
            <a:ext cx="10149840" cy="822960"/>
          </a:xfrm>
          <a:prstGeom prst="rect">
            <a:avLst/>
          </a:prstGeom>
          <a:noFill/>
        </p:spPr>
        <p:txBody>
          <a:bodyPr wrap="square" tIns="0" bIns="0" lIns="0" rIns="0">
            <a:spAutoFit/>
          </a:bodyPr>
          <a:lstStyle/>
          <a:p>
            <a:pPr>
              <a:spcAft>
                <a:spcPts val="600"/>
              </a:spcAft>
              <a:defRPr sz="1000">
                <a:solidFill>
                  <a:srgbClr val="F8FAFC"/>
                </a:solidFill>
                <a:latin typeface="Arial"/>
              </a:defRPr>
            </a:pPr>
            <a:r>
              <a:t>•  Information Noise: Crucial announcements are quickly buried under hundreds of casual student messages.</a:t>
            </a:r>
          </a:p>
          <a:p>
            <a:pPr>
              <a:spcAft>
                <a:spcPts val="600"/>
              </a:spcAft>
              <a:defRPr sz="1000">
                <a:solidFill>
                  <a:srgbClr val="F8FAFC"/>
                </a:solidFill>
                <a:latin typeface="Arial"/>
              </a:defRPr>
            </a:pPr>
            <a:r>
              <a:t>•  No Calendar Structure: Lacks synchronized scheduling; dates cannot be directly added to device calendars.</a:t>
            </a:r>
          </a:p>
          <a:p>
            <a:pPr>
              <a:spcAft>
                <a:spcPts val="600"/>
              </a:spcAft>
              <a:defRPr sz="1000">
                <a:solidFill>
                  <a:srgbClr val="F8FAFC"/>
                </a:solidFill>
                <a:latin typeface="Arial"/>
              </a:defRPr>
            </a:pPr>
            <a:r>
              <a:t>•  Unregulated Forwarding: Promotes misinformation and phishing links without institutional oversight.</a:t>
            </a:r>
          </a:p>
        </p:txBody>
      </p:sp>
      <p:sp>
        <p:nvSpPr>
          <p:cNvPr id="13" name="Rounded Rectangle 12"/>
          <p:cNvSpPr/>
          <p:nvPr/>
        </p:nvSpPr>
        <p:spPr>
          <a:xfrm>
            <a:off x="731520" y="4937760"/>
            <a:ext cx="10698480" cy="137160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074920"/>
            <a:ext cx="10332720" cy="411480"/>
          </a:xfrm>
          <a:prstGeom prst="rect">
            <a:avLst/>
          </a:prstGeom>
          <a:noFill/>
        </p:spPr>
        <p:txBody>
          <a:bodyPr wrap="square">
            <a:spAutoFit/>
          </a:bodyPr>
          <a:lstStyle/>
          <a:p>
            <a:pPr>
              <a:defRPr sz="1300" b="1">
                <a:solidFill>
                  <a:srgbClr val="1DCD9F"/>
                </a:solidFill>
                <a:latin typeface="Arial"/>
              </a:defRPr>
            </a:pPr>
            <a:r>
              <a:t>Generic Google Forms &amp; Spreadsheets</a:t>
            </a:r>
          </a:p>
        </p:txBody>
      </p:sp>
      <p:sp>
        <p:nvSpPr>
          <p:cNvPr id="15" name="TextBox 14"/>
          <p:cNvSpPr txBox="1"/>
          <p:nvPr/>
        </p:nvSpPr>
        <p:spPr>
          <a:xfrm>
            <a:off x="1005840" y="5394960"/>
            <a:ext cx="10149840" cy="822960"/>
          </a:xfrm>
          <a:prstGeom prst="rect">
            <a:avLst/>
          </a:prstGeom>
          <a:noFill/>
        </p:spPr>
        <p:txBody>
          <a:bodyPr wrap="square" tIns="0" bIns="0" lIns="0" rIns="0">
            <a:spAutoFit/>
          </a:bodyPr>
          <a:lstStyle/>
          <a:p>
            <a:pPr>
              <a:spcAft>
                <a:spcPts val="600"/>
              </a:spcAft>
              <a:defRPr sz="1000">
                <a:solidFill>
                  <a:srgbClr val="F8FAFC"/>
                </a:solidFill>
                <a:latin typeface="Arial"/>
              </a:defRPr>
            </a:pPr>
            <a:r>
              <a:t>•  No Input Constraints: Accepts non-existent or dummy email addresses without verification.</a:t>
            </a:r>
          </a:p>
          <a:p>
            <a:pPr>
              <a:spcAft>
                <a:spcPts val="600"/>
              </a:spcAft>
              <a:defRPr sz="1000">
                <a:solidFill>
                  <a:srgbClr val="F8FAFC"/>
                </a:solidFill>
                <a:latin typeface="Arial"/>
              </a:defRPr>
            </a:pPr>
            <a:r>
              <a:t>•  No Concurrency Protection: Over-registration occurs when multiple students submit simultaneously.</a:t>
            </a:r>
          </a:p>
          <a:p>
            <a:pPr>
              <a:spcAft>
                <a:spcPts val="600"/>
              </a:spcAft>
              <a:defRPr sz="1000">
                <a:solidFill>
                  <a:srgbClr val="F8FAFC"/>
                </a:solidFill>
                <a:latin typeface="Arial"/>
              </a:defRPr>
            </a:pPr>
            <a:r>
              <a:t>•  Disconnected Data Silos: Attendee records remain isolated in personal Google Drive folders.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THE SOLUTION</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07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Proposed System: Modern Multi-Tier Platform</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Architectural improvements and comprehensive comparison against legacy methods.</a:t>
            </a:r>
          </a:p>
        </p:txBody>
      </p:sp>
      <p:sp>
        <p:nvSpPr>
          <p:cNvPr id="7" name="Rounded Rectangle 6"/>
          <p:cNvSpPr/>
          <p:nvPr/>
        </p:nvSpPr>
        <p:spPr>
          <a:xfrm>
            <a:off x="731520" y="1828800"/>
            <a:ext cx="4389120" cy="448056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023360" cy="411480"/>
          </a:xfrm>
          <a:prstGeom prst="rect">
            <a:avLst/>
          </a:prstGeom>
          <a:noFill/>
        </p:spPr>
        <p:txBody>
          <a:bodyPr wrap="square">
            <a:spAutoFit/>
          </a:bodyPr>
          <a:lstStyle/>
          <a:p>
            <a:pPr>
              <a:defRPr sz="1300" b="1">
                <a:solidFill>
                  <a:srgbClr val="1DCD9F"/>
                </a:solidFill>
                <a:latin typeface="Arial"/>
              </a:defRPr>
            </a:pPr>
            <a:r>
              <a:t>Core Architectural Improvements</a:t>
            </a:r>
          </a:p>
        </p:txBody>
      </p:sp>
      <p:sp>
        <p:nvSpPr>
          <p:cNvPr id="9" name="TextBox 8"/>
          <p:cNvSpPr txBox="1"/>
          <p:nvPr/>
        </p:nvSpPr>
        <p:spPr>
          <a:xfrm>
            <a:off x="914400" y="2468880"/>
            <a:ext cx="4023360" cy="3657600"/>
          </a:xfrm>
          <a:prstGeom prst="rect">
            <a:avLst/>
          </a:prstGeom>
          <a:noFill/>
        </p:spPr>
        <p:txBody>
          <a:bodyPr wrap="square" tIns="0" bIns="0" lIns="0" rIns="0">
            <a:spAutoFit/>
          </a:bodyPr>
          <a:lstStyle/>
          <a:p>
            <a:pPr>
              <a:spcAft>
                <a:spcPts val="600"/>
              </a:spcAft>
              <a:defRPr sz="1050">
                <a:solidFill>
                  <a:srgbClr val="F8FAFC"/>
                </a:solidFill>
                <a:latin typeface="Arial"/>
              </a:defRPr>
            </a:pPr>
            <a:r>
              <a:t>•  Interactive Native Calendar: Day-by-day horizontal date strip with immediate visual category color badges.</a:t>
            </a:r>
          </a:p>
          <a:p>
            <a:pPr>
              <a:spcAft>
                <a:spcPts val="600"/>
              </a:spcAft>
              <a:defRPr sz="1050">
                <a:solidFill>
                  <a:srgbClr val="F8FAFC"/>
                </a:solidFill>
                <a:latin typeface="Arial"/>
              </a:defRPr>
            </a:pPr>
            <a:r>
              <a:t>•  Zero-Trust Authentication: Strict regex Google address validation and two-factor email link confirmation.</a:t>
            </a:r>
          </a:p>
          <a:p>
            <a:pPr>
              <a:spcAft>
                <a:spcPts val="600"/>
              </a:spcAft>
              <a:defRPr sz="1050">
                <a:solidFill>
                  <a:srgbClr val="F8FAFC"/>
                </a:solidFill>
                <a:latin typeface="Arial"/>
              </a:defRPr>
            </a:pPr>
            <a:r>
              <a:t>•  Persistent Audit Tracking: Real-time sign-in logging tracking device user-agent, IP address, and login counts.</a:t>
            </a:r>
          </a:p>
          <a:p>
            <a:pPr>
              <a:spcAft>
                <a:spcPts val="600"/>
              </a:spcAft>
              <a:defRPr sz="1050">
                <a:solidFill>
                  <a:srgbClr val="F8FAFC"/>
                </a:solidFill>
                <a:latin typeface="Arial"/>
              </a:defRPr>
            </a:pPr>
            <a:r>
              <a:t>•  Offline-First Caching: TanStack Query and local storage enable instant browsing of bookmarked events offline.</a:t>
            </a:r>
          </a:p>
          <a:p>
            <a:pPr>
              <a:spcAft>
                <a:spcPts val="600"/>
              </a:spcAft>
              <a:defRPr sz="1050">
                <a:solidFill>
                  <a:srgbClr val="F8FAFC"/>
                </a:solidFill>
                <a:latin typeface="Arial"/>
              </a:defRPr>
            </a:pPr>
            <a:r>
              <a:t>•  Automated Capacity Management: Real-time PostgreSQL triggers reject registrations when max_capacity is reached.</a:t>
            </a:r>
          </a:p>
          <a:p>
            <a:pPr>
              <a:spcAft>
                <a:spcPts val="600"/>
              </a:spcAft>
              <a:defRPr sz="1050">
                <a:solidFill>
                  <a:srgbClr val="F8FAFC"/>
                </a:solidFill>
                <a:latin typeface="Arial"/>
              </a:defRPr>
            </a:pPr>
            <a:r>
              <a:t>•  Streamlined APK Distribution: Same-origin GitHub Pages download portal bypassing mobile browser download blocks.</a:t>
            </a:r>
          </a:p>
        </p:txBody>
      </p:sp>
      <p:sp>
        <p:nvSpPr>
          <p:cNvPr id="10" name="Rounded Rectangle 9"/>
          <p:cNvSpPr/>
          <p:nvPr/>
        </p:nvSpPr>
        <p:spPr>
          <a:xfrm>
            <a:off x="5303520" y="1828800"/>
            <a:ext cx="61264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1965960"/>
            <a:ext cx="5760720" cy="411480"/>
          </a:xfrm>
          <a:prstGeom prst="rect">
            <a:avLst/>
          </a:prstGeom>
          <a:noFill/>
        </p:spPr>
        <p:txBody>
          <a:bodyPr wrap="square">
            <a:spAutoFit/>
          </a:bodyPr>
          <a:lstStyle/>
          <a:p>
            <a:pPr>
              <a:defRPr sz="1300" b="1">
                <a:solidFill>
                  <a:srgbClr val="1DCD9F"/>
                </a:solidFill>
                <a:latin typeface="Arial"/>
              </a:defRPr>
            </a:pPr>
            <a:r>
              <a:t>Comparative Feature Analysis</a:t>
            </a:r>
          </a:p>
        </p:txBody>
      </p:sp>
      <p:graphicFrame>
        <p:nvGraphicFramePr>
          <p:cNvPr id="12" name="Table 11"/>
          <p:cNvGraphicFramePr>
            <a:graphicFrameLocks noGrp="1"/>
          </p:cNvGraphicFramePr>
          <p:nvPr/>
        </p:nvGraphicFramePr>
        <p:xfrm>
          <a:off x="5486400" y="2468880"/>
          <a:ext cx="5760720" cy="3474720"/>
        </p:xfrm>
        <a:graphic>
          <a:graphicData uri="http://schemas.openxmlformats.org/drawingml/2006/table">
            <a:tbl>
              <a:tblPr firstRow="1" bandRow="1">
                <a:tableStyleId>{5C22544A-7EE6-4342-B048-85BDC9FD1C3A}</a:tableStyleId>
              </a:tblPr>
              <a:tblGrid>
                <a:gridCol w="1920240"/>
                <a:gridCol w="1828800"/>
                <a:gridCol w="2011680"/>
              </a:tblGrid>
              <a:tr h="496388">
                <a:tc>
                  <a:txBody>
                    <a:bodyPr/>
                    <a:lstStyle/>
                    <a:p>
                      <a:pPr>
                        <a:defRPr sz="950" b="1">
                          <a:solidFill>
                            <a:srgbClr val="F8FAFC"/>
                          </a:solidFill>
                          <a:latin typeface="Arial"/>
                        </a:defRPr>
                      </a:pPr>
                      <a:r>
                        <a:t>Feature / Metric</a:t>
                      </a:r>
                    </a:p>
                  </a:txBody>
                  <a:tcPr>
                    <a:solidFill>
                      <a:srgbClr val="0F172A"/>
                    </a:solidFill>
                  </a:tcPr>
                </a:tc>
                <a:tc>
                  <a:txBody>
                    <a:bodyPr/>
                    <a:lstStyle/>
                    <a:p>
                      <a:pPr>
                        <a:defRPr sz="950" b="1">
                          <a:solidFill>
                            <a:srgbClr val="F8FAFC"/>
                          </a:solidFill>
                          <a:latin typeface="Arial"/>
                        </a:defRPr>
                      </a:pPr>
                      <a:r>
                        <a:t>Legacy Methods</a:t>
                      </a:r>
                    </a:p>
                  </a:txBody>
                  <a:tcPr>
                    <a:solidFill>
                      <a:srgbClr val="0F172A"/>
                    </a:solidFill>
                  </a:tcPr>
                </a:tc>
                <a:tc>
                  <a:txBody>
                    <a:bodyPr/>
                    <a:lstStyle/>
                    <a:p>
                      <a:pPr>
                        <a:defRPr sz="950" b="1">
                          <a:solidFill>
                            <a:srgbClr val="1DCD9F"/>
                          </a:solidFill>
                          <a:latin typeface="Arial"/>
                        </a:defRPr>
                      </a:pPr>
                      <a:r>
                        <a:t>Campus Events Platform</a:t>
                      </a:r>
                    </a:p>
                  </a:txBody>
                  <a:tcPr>
                    <a:solidFill>
                      <a:srgbClr val="0F172A"/>
                    </a:solidFill>
                  </a:tcPr>
                </a:tc>
              </a:tr>
              <a:tr h="496388">
                <a:tc>
                  <a:txBody>
                    <a:bodyPr/>
                    <a:lstStyle/>
                    <a:p>
                      <a:pPr>
                        <a:defRPr sz="950">
                          <a:solidFill>
                            <a:srgbClr val="F8FAFC"/>
                          </a:solidFill>
                          <a:latin typeface="Arial"/>
                        </a:defRPr>
                      </a:pPr>
                      <a:r>
                        <a:t>Identity Verification</a:t>
                      </a:r>
                    </a:p>
                  </a:txBody>
                  <a:tcPr>
                    <a:solidFill>
                      <a:srgbClr val="12192A"/>
                    </a:solidFill>
                  </a:tcPr>
                </a:tc>
                <a:tc>
                  <a:txBody>
                    <a:bodyPr/>
                    <a:lstStyle/>
                    <a:p>
                      <a:pPr>
                        <a:defRPr sz="950">
                          <a:solidFill>
                            <a:srgbClr val="F87171"/>
                          </a:solidFill>
                          <a:latin typeface="Arial"/>
                        </a:defRPr>
                      </a:pPr>
                      <a:r>
                        <a:t>None (Dummy emails accepted)</a:t>
                      </a:r>
                    </a:p>
                  </a:txBody>
                  <a:tcPr>
                    <a:solidFill>
                      <a:srgbClr val="12192A"/>
                    </a:solidFill>
                  </a:tcPr>
                </a:tc>
                <a:tc>
                  <a:txBody>
                    <a:bodyPr/>
                    <a:lstStyle/>
                    <a:p>
                      <a:pPr>
                        <a:defRPr sz="950">
                          <a:solidFill>
                            <a:srgbClr val="1DCD9F"/>
                          </a:solidFill>
                          <a:latin typeface="Arial"/>
                        </a:defRPr>
                      </a:pPr>
                      <a:r>
                        <a:t>Strict Gmail Regex + GoTrue Email Link</a:t>
                      </a:r>
                    </a:p>
                  </a:txBody>
                  <a:tcPr>
                    <a:solidFill>
                      <a:srgbClr val="12192A"/>
                    </a:solidFill>
                  </a:tcPr>
                </a:tc>
              </a:tr>
              <a:tr h="496388">
                <a:tc>
                  <a:txBody>
                    <a:bodyPr/>
                    <a:lstStyle/>
                    <a:p>
                      <a:pPr>
                        <a:defRPr sz="950">
                          <a:solidFill>
                            <a:srgbClr val="F8FAFC"/>
                          </a:solidFill>
                          <a:latin typeface="Arial"/>
                        </a:defRPr>
                      </a:pPr>
                      <a:r>
                        <a:t>Schedule Visibility</a:t>
                      </a:r>
                    </a:p>
                  </a:txBody>
                  <a:tcPr>
                    <a:solidFill>
                      <a:srgbClr val="182136"/>
                    </a:solidFill>
                  </a:tcPr>
                </a:tc>
                <a:tc>
                  <a:txBody>
                    <a:bodyPr/>
                    <a:lstStyle/>
                    <a:p>
                      <a:pPr>
                        <a:defRPr sz="950">
                          <a:solidFill>
                            <a:srgbClr val="F87171"/>
                          </a:solidFill>
                          <a:latin typeface="Arial"/>
                        </a:defRPr>
                      </a:pPr>
                      <a:r>
                        <a:t>Scattered on flyers/chats</a:t>
                      </a:r>
                    </a:p>
                  </a:txBody>
                  <a:tcPr>
                    <a:solidFill>
                      <a:srgbClr val="182136"/>
                    </a:solidFill>
                  </a:tcPr>
                </a:tc>
                <a:tc>
                  <a:txBody>
                    <a:bodyPr/>
                    <a:lstStyle/>
                    <a:p>
                      <a:pPr>
                        <a:defRPr sz="950">
                          <a:solidFill>
                            <a:srgbClr val="1DCD9F"/>
                          </a:solidFill>
                          <a:latin typeface="Arial"/>
                        </a:defRPr>
                      </a:pPr>
                      <a:r>
                        <a:t>Synchronized Day-by-Day Calendar Feed</a:t>
                      </a:r>
                    </a:p>
                  </a:txBody>
                  <a:tcPr>
                    <a:solidFill>
                      <a:srgbClr val="182136"/>
                    </a:solidFill>
                  </a:tcPr>
                </a:tc>
              </a:tr>
              <a:tr h="496388">
                <a:tc>
                  <a:txBody>
                    <a:bodyPr/>
                    <a:lstStyle/>
                    <a:p>
                      <a:pPr>
                        <a:defRPr sz="950">
                          <a:solidFill>
                            <a:srgbClr val="F8FAFC"/>
                          </a:solidFill>
                          <a:latin typeface="Arial"/>
                        </a:defRPr>
                      </a:pPr>
                      <a:r>
                        <a:t>Capacity Enforcement</a:t>
                      </a:r>
                    </a:p>
                  </a:txBody>
                  <a:tcPr>
                    <a:solidFill>
                      <a:srgbClr val="12192A"/>
                    </a:solidFill>
                  </a:tcPr>
                </a:tc>
                <a:tc>
                  <a:txBody>
                    <a:bodyPr/>
                    <a:lstStyle/>
                    <a:p>
                      <a:pPr>
                        <a:defRPr sz="950">
                          <a:solidFill>
                            <a:srgbClr val="F87171"/>
                          </a:solidFill>
                          <a:latin typeface="Arial"/>
                        </a:defRPr>
                      </a:pPr>
                      <a:r>
                        <a:t>Manual spreadsheet count</a:t>
                      </a:r>
                    </a:p>
                  </a:txBody>
                  <a:tcPr>
                    <a:solidFill>
                      <a:srgbClr val="12192A"/>
                    </a:solidFill>
                  </a:tcPr>
                </a:tc>
                <a:tc>
                  <a:txBody>
                    <a:bodyPr/>
                    <a:lstStyle/>
                    <a:p>
                      <a:pPr>
                        <a:defRPr sz="950">
                          <a:solidFill>
                            <a:srgbClr val="1DCD9F"/>
                          </a:solidFill>
                          <a:latin typeface="Arial"/>
                        </a:defRPr>
                      </a:pPr>
                      <a:r>
                        <a:t>Automated Real-Time DB Trigger Lock</a:t>
                      </a:r>
                    </a:p>
                  </a:txBody>
                  <a:tcPr>
                    <a:solidFill>
                      <a:srgbClr val="12192A"/>
                    </a:solidFill>
                  </a:tcPr>
                </a:tc>
              </a:tr>
              <a:tr h="496388">
                <a:tc>
                  <a:txBody>
                    <a:bodyPr/>
                    <a:lstStyle/>
                    <a:p>
                      <a:pPr>
                        <a:defRPr sz="950">
                          <a:solidFill>
                            <a:srgbClr val="F8FAFC"/>
                          </a:solidFill>
                          <a:latin typeface="Arial"/>
                        </a:defRPr>
                      </a:pPr>
                      <a:r>
                        <a:t>Offline Access</a:t>
                      </a:r>
                    </a:p>
                  </a:txBody>
                  <a:tcPr>
                    <a:solidFill>
                      <a:srgbClr val="182136"/>
                    </a:solidFill>
                  </a:tcPr>
                </a:tc>
                <a:tc>
                  <a:txBody>
                    <a:bodyPr/>
                    <a:lstStyle/>
                    <a:p>
                      <a:pPr>
                        <a:defRPr sz="950">
                          <a:solidFill>
                            <a:srgbClr val="F87171"/>
                          </a:solidFill>
                          <a:latin typeface="Arial"/>
                        </a:defRPr>
                      </a:pPr>
                      <a:r>
                        <a:t>None (Requires connection)</a:t>
                      </a:r>
                    </a:p>
                  </a:txBody>
                  <a:tcPr>
                    <a:solidFill>
                      <a:srgbClr val="182136"/>
                    </a:solidFill>
                  </a:tcPr>
                </a:tc>
                <a:tc>
                  <a:txBody>
                    <a:bodyPr/>
                    <a:lstStyle/>
                    <a:p>
                      <a:pPr>
                        <a:defRPr sz="950">
                          <a:solidFill>
                            <a:srgbClr val="1DCD9F"/>
                          </a:solidFill>
                          <a:latin typeface="Arial"/>
                        </a:defRPr>
                      </a:pPr>
                      <a:r>
                        <a:t>Offline Bookmarks via Local Cache</a:t>
                      </a:r>
                    </a:p>
                  </a:txBody>
                  <a:tcPr>
                    <a:solidFill>
                      <a:srgbClr val="182136"/>
                    </a:solidFill>
                  </a:tcPr>
                </a:tc>
              </a:tr>
              <a:tr h="496388">
                <a:tc>
                  <a:txBody>
                    <a:bodyPr/>
                    <a:lstStyle/>
                    <a:p>
                      <a:pPr>
                        <a:defRPr sz="950">
                          <a:solidFill>
                            <a:srgbClr val="F8FAFC"/>
                          </a:solidFill>
                          <a:latin typeface="Arial"/>
                        </a:defRPr>
                      </a:pPr>
                      <a:r>
                        <a:t>Access Audit Logging</a:t>
                      </a:r>
                    </a:p>
                  </a:txBody>
                  <a:tcPr>
                    <a:solidFill>
                      <a:srgbClr val="12192A"/>
                    </a:solidFill>
                  </a:tcPr>
                </a:tc>
                <a:tc>
                  <a:txBody>
                    <a:bodyPr/>
                    <a:lstStyle/>
                    <a:p>
                      <a:pPr>
                        <a:defRPr sz="950">
                          <a:solidFill>
                            <a:srgbClr val="F87171"/>
                          </a:solidFill>
                          <a:latin typeface="Arial"/>
                        </a:defRPr>
                      </a:pPr>
                      <a:r>
                        <a:t>Zero security logs</a:t>
                      </a:r>
                    </a:p>
                  </a:txBody>
                  <a:tcPr>
                    <a:solidFill>
                      <a:srgbClr val="12192A"/>
                    </a:solidFill>
                  </a:tcPr>
                </a:tc>
                <a:tc>
                  <a:txBody>
                    <a:bodyPr/>
                    <a:lstStyle/>
                    <a:p>
                      <a:pPr>
                        <a:defRPr sz="950">
                          <a:solidFill>
                            <a:srgbClr val="1DCD9F"/>
                          </a:solidFill>
                          <a:latin typeface="Arial"/>
                        </a:defRPr>
                      </a:pPr>
                      <a:r>
                        <a:t>Automated IP, Timestamp &amp; Device Logging</a:t>
                      </a:r>
                    </a:p>
                  </a:txBody>
                  <a:tcPr>
                    <a:solidFill>
                      <a:srgbClr val="12192A"/>
                    </a:solidFill>
                  </a:tcPr>
                </a:tc>
              </a:tr>
              <a:tr h="496392">
                <a:tc>
                  <a:txBody>
                    <a:bodyPr/>
                    <a:lstStyle/>
                    <a:p>
                      <a:pPr>
                        <a:defRPr sz="950">
                          <a:solidFill>
                            <a:srgbClr val="F8FAFC"/>
                          </a:solidFill>
                          <a:latin typeface="Arial"/>
                        </a:defRPr>
                      </a:pPr>
                      <a:r>
                        <a:t>Data Security</a:t>
                      </a:r>
                    </a:p>
                  </a:txBody>
                  <a:tcPr>
                    <a:solidFill>
                      <a:srgbClr val="182136"/>
                    </a:solidFill>
                  </a:tcPr>
                </a:tc>
                <a:tc>
                  <a:txBody>
                    <a:bodyPr/>
                    <a:lstStyle/>
                    <a:p>
                      <a:pPr>
                        <a:defRPr sz="950">
                          <a:solidFill>
                            <a:srgbClr val="F87171"/>
                          </a:solidFill>
                          <a:latin typeface="Arial"/>
                        </a:defRPr>
                      </a:pPr>
                      <a:r>
                        <a:t>Spreadsheets on personal PCs</a:t>
                      </a:r>
                    </a:p>
                  </a:txBody>
                  <a:tcPr>
                    <a:solidFill>
                      <a:srgbClr val="182136"/>
                    </a:solidFill>
                  </a:tcPr>
                </a:tc>
                <a:tc>
                  <a:txBody>
                    <a:bodyPr/>
                    <a:lstStyle/>
                    <a:p>
                      <a:pPr>
                        <a:defRPr sz="950">
                          <a:solidFill>
                            <a:srgbClr val="1DCD9F"/>
                          </a:solidFill>
                          <a:latin typeface="Arial"/>
                        </a:defRPr>
                      </a:pPr>
                      <a:r>
                        <a:t>PostgreSQL Row Level Security (RLS)</a:t>
                      </a:r>
                    </a:p>
                  </a:txBody>
                  <a:tcPr>
                    <a:solidFill>
                      <a:srgbClr val="182136"/>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SYSTEM DESIGN</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08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Distributed 3-Tier System Architecture</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End-to-end data flow between the React Native client, Express REST API, and Supabase cloud services.</a:t>
            </a:r>
          </a:p>
        </p:txBody>
      </p:sp>
      <p:sp>
        <p:nvSpPr>
          <p:cNvPr id="7" name="Rounded Rectangle 6"/>
          <p:cNvSpPr/>
          <p:nvPr/>
        </p:nvSpPr>
        <p:spPr>
          <a:xfrm>
            <a:off x="731520" y="1828800"/>
            <a:ext cx="24688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2103120" cy="411480"/>
          </a:xfrm>
          <a:prstGeom prst="rect">
            <a:avLst/>
          </a:prstGeom>
          <a:noFill/>
        </p:spPr>
        <p:txBody>
          <a:bodyPr wrap="square">
            <a:spAutoFit/>
          </a:bodyPr>
          <a:lstStyle/>
          <a:p>
            <a:pPr>
              <a:defRPr sz="1300" b="1">
                <a:solidFill>
                  <a:srgbClr val="1DCD9F"/>
                </a:solidFill>
                <a:latin typeface="Arial"/>
              </a:defRPr>
            </a:pPr>
            <a:r>
              <a:t>Tier 1: Mobile Client</a:t>
            </a:r>
          </a:p>
        </p:txBody>
      </p:sp>
      <p:sp>
        <p:nvSpPr>
          <p:cNvPr id="9" name="TextBox 8"/>
          <p:cNvSpPr txBox="1"/>
          <p:nvPr/>
        </p:nvSpPr>
        <p:spPr>
          <a:xfrm>
            <a:off x="914400" y="2377440"/>
            <a:ext cx="21031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React Native 0.86.3</a:t>
            </a:r>
          </a:p>
          <a:p>
            <a:pPr>
              <a:spcAft>
                <a:spcPts val="600"/>
              </a:spcAft>
              <a:defRPr sz="1050">
                <a:solidFill>
                  <a:srgbClr val="F8FAFC"/>
                </a:solidFill>
                <a:latin typeface="Arial"/>
              </a:defRPr>
            </a:pPr>
            <a:r>
              <a:t>•  Expo SDK 57 (New Arch)</a:t>
            </a:r>
          </a:p>
          <a:p>
            <a:pPr>
              <a:spcAft>
                <a:spcPts val="600"/>
              </a:spcAft>
              <a:defRPr sz="1050">
                <a:solidFill>
                  <a:srgbClr val="F8FAFC"/>
                </a:solidFill>
                <a:latin typeface="Arial"/>
              </a:defRPr>
            </a:pPr>
            <a:r>
              <a:t>•  Hermes C++ Engine</a:t>
            </a:r>
          </a:p>
          <a:p>
            <a:pPr>
              <a:spcAft>
                <a:spcPts val="600"/>
              </a:spcAft>
              <a:defRPr sz="1050">
                <a:solidFill>
                  <a:srgbClr val="F8FAFC"/>
                </a:solidFill>
                <a:latin typeface="Arial"/>
              </a:defRPr>
            </a:pPr>
            <a:r>
              <a:t>•  Expo Router (File-based)</a:t>
            </a:r>
          </a:p>
          <a:p>
            <a:pPr>
              <a:spcAft>
                <a:spcPts val="600"/>
              </a:spcAft>
              <a:defRPr sz="1050">
                <a:solidFill>
                  <a:srgbClr val="F8FAFC"/>
                </a:solidFill>
                <a:latin typeface="Arial"/>
              </a:defRPr>
            </a:pPr>
            <a:r>
              <a:t>•  TanStack Query v5</a:t>
            </a:r>
          </a:p>
          <a:p>
            <a:pPr>
              <a:spcAft>
                <a:spcPts val="600"/>
              </a:spcAft>
              <a:defRPr sz="1050">
                <a:solidFill>
                  <a:srgbClr val="F8FAFC"/>
                </a:solidFill>
                <a:latin typeface="Arial"/>
              </a:defRPr>
            </a:pPr>
            <a:r>
              <a:t>•  React Hook Form + Zod</a:t>
            </a:r>
          </a:p>
          <a:p>
            <a:pPr>
              <a:spcAft>
                <a:spcPts val="600"/>
              </a:spcAft>
              <a:defRPr sz="1050">
                <a:solidFill>
                  <a:srgbClr val="F8FAFC"/>
                </a:solidFill>
                <a:latin typeface="Arial"/>
              </a:defRPr>
            </a:pPr>
            <a:r>
              <a:t>•  AsyncStorage Local Cache</a:t>
            </a:r>
          </a:p>
          <a:p>
            <a:pPr>
              <a:spcAft>
                <a:spcPts val="600"/>
              </a:spcAft>
              <a:defRPr sz="1050">
                <a:solidFill>
                  <a:srgbClr val="F8FAFC"/>
                </a:solidFill>
                <a:latin typeface="Arial"/>
              </a:defRPr>
            </a:pPr>
            <a:r>
              <a:t>•  Axios REST Client</a:t>
            </a:r>
          </a:p>
        </p:txBody>
      </p:sp>
      <p:sp>
        <p:nvSpPr>
          <p:cNvPr id="10" name="Rounded Rectangle 9"/>
          <p:cNvSpPr/>
          <p:nvPr/>
        </p:nvSpPr>
        <p:spPr>
          <a:xfrm>
            <a:off x="3474720" y="1828800"/>
            <a:ext cx="24688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965960"/>
            <a:ext cx="2103120" cy="411480"/>
          </a:xfrm>
          <a:prstGeom prst="rect">
            <a:avLst/>
          </a:prstGeom>
          <a:noFill/>
        </p:spPr>
        <p:txBody>
          <a:bodyPr wrap="square">
            <a:spAutoFit/>
          </a:bodyPr>
          <a:lstStyle/>
          <a:p>
            <a:pPr>
              <a:defRPr sz="1300" b="1">
                <a:solidFill>
                  <a:srgbClr val="1DCD9F"/>
                </a:solidFill>
                <a:latin typeface="Arial"/>
              </a:defRPr>
            </a:pPr>
            <a:r>
              <a:t>Tier 2: Express REST API</a:t>
            </a:r>
          </a:p>
        </p:txBody>
      </p:sp>
      <p:sp>
        <p:nvSpPr>
          <p:cNvPr id="12" name="TextBox 11"/>
          <p:cNvSpPr txBox="1"/>
          <p:nvPr/>
        </p:nvSpPr>
        <p:spPr>
          <a:xfrm>
            <a:off x="3657600" y="2377440"/>
            <a:ext cx="21031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Node.js v20+ LTS</a:t>
            </a:r>
          </a:p>
          <a:p>
            <a:pPr>
              <a:spcAft>
                <a:spcPts val="600"/>
              </a:spcAft>
              <a:defRPr sz="1050">
                <a:solidFill>
                  <a:srgbClr val="F8FAFC"/>
                </a:solidFill>
                <a:latin typeface="Arial"/>
              </a:defRPr>
            </a:pPr>
            <a:r>
              <a:t>•  Express.js Framework</a:t>
            </a:r>
          </a:p>
          <a:p>
            <a:pPr>
              <a:spcAft>
                <a:spcPts val="600"/>
              </a:spcAft>
              <a:defRPr sz="1050">
                <a:solidFill>
                  <a:srgbClr val="F8FAFC"/>
                </a:solidFill>
                <a:latin typeface="Arial"/>
              </a:defRPr>
            </a:pPr>
            <a:r>
              <a:t>•  TypeScript Strict Mode</a:t>
            </a:r>
          </a:p>
          <a:p>
            <a:pPr>
              <a:spcAft>
                <a:spcPts val="600"/>
              </a:spcAft>
              <a:defRPr sz="1050">
                <a:solidFill>
                  <a:srgbClr val="F8FAFC"/>
                </a:solidFill>
                <a:latin typeface="Arial"/>
              </a:defRPr>
            </a:pPr>
            <a:r>
              <a:t>•  Zod Request Validation</a:t>
            </a:r>
          </a:p>
          <a:p>
            <a:pPr>
              <a:spcAft>
                <a:spcPts val="600"/>
              </a:spcAft>
              <a:defRPr sz="1050">
                <a:solidFill>
                  <a:srgbClr val="F8FAFC"/>
                </a:solidFill>
                <a:latin typeface="Arial"/>
              </a:defRPr>
            </a:pPr>
            <a:r>
              <a:t>•  Express Rate Limit</a:t>
            </a:r>
          </a:p>
          <a:p>
            <a:pPr>
              <a:spcAft>
                <a:spcPts val="600"/>
              </a:spcAft>
              <a:defRPr sz="1050">
                <a:solidFill>
                  <a:srgbClr val="F8FAFC"/>
                </a:solidFill>
                <a:latin typeface="Arial"/>
              </a:defRPr>
            </a:pPr>
            <a:r>
              <a:t>•  Supabase Service SDK</a:t>
            </a:r>
          </a:p>
          <a:p>
            <a:pPr>
              <a:spcAft>
                <a:spcPts val="600"/>
              </a:spcAft>
              <a:defRPr sz="1050">
                <a:solidFill>
                  <a:srgbClr val="F8FAFC"/>
                </a:solidFill>
                <a:latin typeface="Arial"/>
              </a:defRPr>
            </a:pPr>
            <a:r>
              <a:t>•  Deployed on Render</a:t>
            </a:r>
          </a:p>
          <a:p>
            <a:pPr>
              <a:spcAft>
                <a:spcPts val="600"/>
              </a:spcAft>
              <a:defRPr sz="1050">
                <a:solidFill>
                  <a:srgbClr val="F8FAFC"/>
                </a:solidFill>
                <a:latin typeface="Arial"/>
              </a:defRPr>
            </a:pPr>
            <a:r>
              <a:t>•  HTTPS / TLS Encryption</a:t>
            </a:r>
          </a:p>
        </p:txBody>
      </p:sp>
      <p:sp>
        <p:nvSpPr>
          <p:cNvPr id="13" name="Rounded Rectangle 12"/>
          <p:cNvSpPr/>
          <p:nvPr/>
        </p:nvSpPr>
        <p:spPr>
          <a:xfrm>
            <a:off x="6217920" y="1828800"/>
            <a:ext cx="2468880" cy="448056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965960"/>
            <a:ext cx="2103120" cy="411480"/>
          </a:xfrm>
          <a:prstGeom prst="rect">
            <a:avLst/>
          </a:prstGeom>
          <a:noFill/>
        </p:spPr>
        <p:txBody>
          <a:bodyPr wrap="square">
            <a:spAutoFit/>
          </a:bodyPr>
          <a:lstStyle/>
          <a:p>
            <a:pPr>
              <a:defRPr sz="1300" b="1">
                <a:solidFill>
                  <a:srgbClr val="1DCD9F"/>
                </a:solidFill>
                <a:latin typeface="Arial"/>
              </a:defRPr>
            </a:pPr>
            <a:r>
              <a:t>Tier 3: Cloud Database</a:t>
            </a:r>
          </a:p>
        </p:txBody>
      </p:sp>
      <p:sp>
        <p:nvSpPr>
          <p:cNvPr id="15" name="TextBox 14"/>
          <p:cNvSpPr txBox="1"/>
          <p:nvPr/>
        </p:nvSpPr>
        <p:spPr>
          <a:xfrm>
            <a:off x="6400800" y="2377440"/>
            <a:ext cx="21031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Supabase PostgreSQL 15</a:t>
            </a:r>
          </a:p>
          <a:p>
            <a:pPr>
              <a:spcAft>
                <a:spcPts val="600"/>
              </a:spcAft>
              <a:defRPr sz="1050">
                <a:solidFill>
                  <a:srgbClr val="F8FAFC"/>
                </a:solidFill>
                <a:latin typeface="Arial"/>
              </a:defRPr>
            </a:pPr>
            <a:r>
              <a:t>•  Row Level Security (RLS)</a:t>
            </a:r>
          </a:p>
          <a:p>
            <a:pPr>
              <a:spcAft>
                <a:spcPts val="600"/>
              </a:spcAft>
              <a:defRPr sz="1050">
                <a:solidFill>
                  <a:srgbClr val="F8FAFC"/>
                </a:solidFill>
                <a:latin typeface="Arial"/>
              </a:defRPr>
            </a:pPr>
            <a:r>
              <a:t>•  GoTrue PKCE Auth Engine</a:t>
            </a:r>
          </a:p>
          <a:p>
            <a:pPr>
              <a:spcAft>
                <a:spcPts val="600"/>
              </a:spcAft>
              <a:defRPr sz="1050">
                <a:solidFill>
                  <a:srgbClr val="F8FAFC"/>
                </a:solidFill>
                <a:latin typeface="Arial"/>
              </a:defRPr>
            </a:pPr>
            <a:r>
              <a:t>•  Automated Triggers</a:t>
            </a:r>
          </a:p>
          <a:p>
            <a:pPr>
              <a:spcAft>
                <a:spcPts val="600"/>
              </a:spcAft>
              <a:defRPr sz="1050">
                <a:solidFill>
                  <a:srgbClr val="F8FAFC"/>
                </a:solidFill>
                <a:latin typeface="Arial"/>
              </a:defRPr>
            </a:pPr>
            <a:r>
              <a:t>•  B-Tree Search Indexes</a:t>
            </a:r>
          </a:p>
          <a:p>
            <a:pPr>
              <a:spcAft>
                <a:spcPts val="600"/>
              </a:spcAft>
              <a:defRPr sz="1050">
                <a:solidFill>
                  <a:srgbClr val="F8FAFC"/>
                </a:solidFill>
                <a:latin typeface="Arial"/>
              </a:defRPr>
            </a:pPr>
            <a:r>
              <a:t>•  Audit Table (sign_in_logs)</a:t>
            </a:r>
          </a:p>
          <a:p>
            <a:pPr>
              <a:spcAft>
                <a:spcPts val="600"/>
              </a:spcAft>
              <a:defRPr sz="1050">
                <a:solidFill>
                  <a:srgbClr val="F8FAFC"/>
                </a:solidFill>
                <a:latin typeface="Arial"/>
              </a:defRPr>
            </a:pPr>
            <a:r>
              <a:t>•  Event Poster S3 Storage</a:t>
            </a:r>
          </a:p>
          <a:p>
            <a:pPr>
              <a:spcAft>
                <a:spcPts val="600"/>
              </a:spcAft>
              <a:defRPr sz="1050">
                <a:solidFill>
                  <a:srgbClr val="F8FAFC"/>
                </a:solidFill>
                <a:latin typeface="Arial"/>
              </a:defRPr>
            </a:pPr>
            <a:r>
              <a:t>•  Profile Metadata Sync</a:t>
            </a:r>
          </a:p>
        </p:txBody>
      </p:sp>
      <p:sp>
        <p:nvSpPr>
          <p:cNvPr id="16" name="Rounded Rectangle 15"/>
          <p:cNvSpPr/>
          <p:nvPr/>
        </p:nvSpPr>
        <p:spPr>
          <a:xfrm>
            <a:off x="8961120" y="1828800"/>
            <a:ext cx="24688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1965960"/>
            <a:ext cx="2103120" cy="411480"/>
          </a:xfrm>
          <a:prstGeom prst="rect">
            <a:avLst/>
          </a:prstGeom>
          <a:noFill/>
        </p:spPr>
        <p:txBody>
          <a:bodyPr wrap="square">
            <a:spAutoFit/>
          </a:bodyPr>
          <a:lstStyle/>
          <a:p>
            <a:pPr>
              <a:defRPr sz="1300" b="1">
                <a:solidFill>
                  <a:srgbClr val="1DCD9F"/>
                </a:solidFill>
                <a:latin typeface="Arial"/>
              </a:defRPr>
            </a:pPr>
            <a:r>
              <a:t>Tier 4: Public Distribution</a:t>
            </a:r>
          </a:p>
        </p:txBody>
      </p:sp>
      <p:sp>
        <p:nvSpPr>
          <p:cNvPr id="18" name="TextBox 17"/>
          <p:cNvSpPr txBox="1"/>
          <p:nvPr/>
        </p:nvSpPr>
        <p:spPr>
          <a:xfrm>
            <a:off x="9144000" y="2377440"/>
            <a:ext cx="21031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GitHub Pages Portal</a:t>
            </a:r>
          </a:p>
          <a:p>
            <a:pPr>
              <a:spcAft>
                <a:spcPts val="600"/>
              </a:spcAft>
              <a:defRPr sz="1050">
                <a:solidFill>
                  <a:srgbClr val="F8FAFC"/>
                </a:solidFill>
                <a:latin typeface="Arial"/>
              </a:defRPr>
            </a:pPr>
            <a:r>
              <a:t>•  GitHub Releases CDN</a:t>
            </a:r>
          </a:p>
          <a:p>
            <a:pPr>
              <a:spcAft>
                <a:spcPts val="600"/>
              </a:spcAft>
              <a:defRPr sz="1050">
                <a:solidFill>
                  <a:srgbClr val="F8FAFC"/>
                </a:solidFill>
                <a:latin typeface="Arial"/>
              </a:defRPr>
            </a:pPr>
            <a:r>
              <a:t>•  Same-Origin APK Host</a:t>
            </a:r>
          </a:p>
          <a:p>
            <a:pPr>
              <a:spcAft>
                <a:spcPts val="600"/>
              </a:spcAft>
              <a:defRPr sz="1050">
                <a:solidFill>
                  <a:srgbClr val="F8FAFC"/>
                </a:solidFill>
                <a:latin typeface="Arial"/>
              </a:defRPr>
            </a:pPr>
            <a:r>
              <a:t>•  RSA 2048-bit Keystore</a:t>
            </a:r>
          </a:p>
          <a:p>
            <a:pPr>
              <a:spcAft>
                <a:spcPts val="600"/>
              </a:spcAft>
              <a:defRPr sz="1050">
                <a:solidFill>
                  <a:srgbClr val="F8FAFC"/>
                </a:solidFill>
                <a:latin typeface="Arial"/>
              </a:defRPr>
            </a:pPr>
            <a:r>
              <a:t>•  APK Signature v2 &amp; v3</a:t>
            </a:r>
          </a:p>
          <a:p>
            <a:pPr>
              <a:spcAft>
                <a:spcPts val="600"/>
              </a:spcAft>
              <a:defRPr sz="1050">
                <a:solidFill>
                  <a:srgbClr val="F8FAFC"/>
                </a:solidFill>
                <a:latin typeface="Arial"/>
              </a:defRPr>
            </a:pPr>
            <a:r>
              <a:t>•  SHA-256 Checksum</a:t>
            </a:r>
          </a:p>
          <a:p>
            <a:pPr>
              <a:spcAft>
                <a:spcPts val="600"/>
              </a:spcAft>
              <a:defRPr sz="1050">
                <a:solidFill>
                  <a:srgbClr val="F8FAFC"/>
                </a:solidFill>
                <a:latin typeface="Arial"/>
              </a:defRPr>
            </a:pPr>
            <a:r>
              <a:t>•  Interactive Slide Deck</a:t>
            </a:r>
          </a:p>
          <a:p>
            <a:pPr>
              <a:spcAft>
                <a:spcPts val="600"/>
              </a:spcAft>
              <a:defRPr sz="1050">
                <a:solidFill>
                  <a:srgbClr val="F8FAFC"/>
                </a:solidFill>
                <a:latin typeface="Arial"/>
              </a:defRPr>
            </a:pPr>
            <a:r>
              <a:t>•  Online QR Code Scanner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TECHNICAL STACK</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09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Technology Stack &amp; Engineering Justifications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Categorized overview of frameworks, languages, engines, and tools utilized across all tiers.</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Mobile Client Technologies</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React Native 0.86.3 &amp; Expo 57: Enables cross-platform native compilation with high-frequency UI updates.</a:t>
            </a:r>
          </a:p>
          <a:p>
            <a:pPr>
              <a:spcAft>
                <a:spcPts val="600"/>
              </a:spcAft>
              <a:defRPr sz="1000">
                <a:solidFill>
                  <a:srgbClr val="F8FAFC"/>
                </a:solidFill>
                <a:latin typeface="Arial"/>
              </a:defRPr>
            </a:pPr>
            <a:r>
              <a:t>•  Hermes Engine: Lightweight bytecode runtime optimized for instant Android app startup and lower RAM usage.</a:t>
            </a:r>
          </a:p>
          <a:p>
            <a:pPr>
              <a:spcAft>
                <a:spcPts val="600"/>
              </a:spcAft>
              <a:defRPr sz="1000">
                <a:solidFill>
                  <a:srgbClr val="F8FAFC"/>
                </a:solidFill>
                <a:latin typeface="Arial"/>
              </a:defRPr>
            </a:pPr>
            <a:r>
              <a:t>•  TanStack Query v5: Provides client-side query caching, background polling, and optimistic UI mutations.</a:t>
            </a:r>
          </a:p>
          <a:p>
            <a:pPr>
              <a:spcAft>
                <a:spcPts val="600"/>
              </a:spcAft>
              <a:defRPr sz="1000">
                <a:solidFill>
                  <a:srgbClr val="F8FAFC"/>
                </a:solidFill>
                <a:latin typeface="Arial"/>
              </a:defRPr>
            </a:pPr>
            <a:r>
              <a:t>•  TypeScript: Guarantees end-to-end type safety, preventing runtime undefined errors in UI components.</a:t>
            </a:r>
          </a:p>
        </p:txBody>
      </p:sp>
      <p:sp>
        <p:nvSpPr>
          <p:cNvPr id="10" name="Rounded Rectangle 9"/>
          <p:cNvSpPr/>
          <p:nvPr/>
        </p:nvSpPr>
        <p:spPr>
          <a:xfrm>
            <a:off x="62179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Backend &amp; Middleware Tier</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Node.js 20 &amp; Express.js: Non-blocking asynchronous I/O architecture ideal for concurrent API requests.</a:t>
            </a:r>
          </a:p>
          <a:p>
            <a:pPr>
              <a:spcAft>
                <a:spcPts val="600"/>
              </a:spcAft>
              <a:defRPr sz="1000">
                <a:solidFill>
                  <a:srgbClr val="F8FAFC"/>
                </a:solidFill>
                <a:latin typeface="Arial"/>
              </a:defRPr>
            </a:pPr>
            <a:r>
              <a:t>•  Zod Schema Validation: Enforces strict payload validation, stripping illegal fields before execution.</a:t>
            </a:r>
          </a:p>
          <a:p>
            <a:pPr>
              <a:spcAft>
                <a:spcPts val="600"/>
              </a:spcAft>
              <a:defRPr sz="1000">
                <a:solidFill>
                  <a:srgbClr val="F8FAFC"/>
                </a:solidFill>
                <a:latin typeface="Arial"/>
              </a:defRPr>
            </a:pPr>
            <a:r>
              <a:t>•  Express Rate Limit: Defends public endpoints against brute-force attacks and volumetric denial-of-service.</a:t>
            </a:r>
          </a:p>
          <a:p>
            <a:pPr>
              <a:spcAft>
                <a:spcPts val="600"/>
              </a:spcAft>
              <a:defRPr sz="1000">
                <a:solidFill>
                  <a:srgbClr val="F8FAFC"/>
                </a:solidFill>
                <a:latin typeface="Arial"/>
              </a:defRPr>
            </a:pPr>
            <a:r>
              <a:t>•  Render Cloud Platform: Managed cloud web service providing continuous deployment from GitHub master.</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Database &amp; Authentication</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Supabase PostgreSQL 15: Enterprise relational database supporting complex joins, triggers, and foreign keys.</a:t>
            </a:r>
          </a:p>
          <a:p>
            <a:pPr>
              <a:spcAft>
                <a:spcPts val="600"/>
              </a:spcAft>
              <a:defRPr sz="1000">
                <a:solidFill>
                  <a:srgbClr val="F8FAFC"/>
                </a:solidFill>
                <a:latin typeface="Arial"/>
              </a:defRPr>
            </a:pPr>
            <a:r>
              <a:t>•  Row Level Security (RLS): Database-native access control isolating student records at the SQL engine level.</a:t>
            </a:r>
          </a:p>
          <a:p>
            <a:pPr>
              <a:spcAft>
                <a:spcPts val="600"/>
              </a:spcAft>
              <a:defRPr sz="1000">
                <a:solidFill>
                  <a:srgbClr val="F8FAFC"/>
                </a:solidFill>
                <a:latin typeface="Arial"/>
              </a:defRPr>
            </a:pPr>
            <a:r>
              <a:t>•  Supabase GoTrue + PKCE: Secure token exchange preventing interception attacks during email confirmation.</a:t>
            </a:r>
          </a:p>
          <a:p>
            <a:pPr>
              <a:spcAft>
                <a:spcPts val="600"/>
              </a:spcAft>
              <a:defRPr sz="1000">
                <a:solidFill>
                  <a:srgbClr val="F8FAFC"/>
                </a:solidFill>
                <a:latin typeface="Arial"/>
              </a:defRPr>
            </a:pPr>
            <a:r>
              <a:t>•  Supabase Storage: S3-compatible cloud object storage for optimized event poster images.</a:t>
            </a:r>
          </a:p>
        </p:txBody>
      </p:sp>
      <p:sp>
        <p:nvSpPr>
          <p:cNvPr id="16" name="Rounded Rectangle 15"/>
          <p:cNvSpPr/>
          <p:nvPr/>
        </p:nvSpPr>
        <p:spPr>
          <a:xfrm>
            <a:off x="62179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Build &amp; Distribution DevOps</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Android NDK / CMake / Ninja: Native C++ toolchain for compiling React Native TurboModules.</a:t>
            </a:r>
          </a:p>
          <a:p>
            <a:pPr>
              <a:spcAft>
                <a:spcPts val="600"/>
              </a:spcAft>
              <a:defRPr sz="1000">
                <a:solidFill>
                  <a:srgbClr val="F8FAFC"/>
                </a:solidFill>
                <a:latin typeface="Arial"/>
              </a:defRPr>
            </a:pPr>
            <a:r>
              <a:t>•  apksigner &amp; Release Keystore: Signs the APK using 2048-bit RSA keys with modern v2 &amp; v3 schemes.</a:t>
            </a:r>
          </a:p>
          <a:p>
            <a:pPr>
              <a:spcAft>
                <a:spcPts val="600"/>
              </a:spcAft>
              <a:defRPr sz="1000">
                <a:solidFill>
                  <a:srgbClr val="F8FAFC"/>
                </a:solidFill>
                <a:latin typeface="Arial"/>
              </a:defRPr>
            </a:pPr>
            <a:r>
              <a:t>•  GitHub Pages &amp; Releases: High-availability global CDN hosting both the APK binary and download portal.</a:t>
            </a:r>
          </a:p>
          <a:p>
            <a:pPr>
              <a:spcAft>
                <a:spcPts val="600"/>
              </a:spcAft>
              <a:defRPr sz="1000">
                <a:solidFill>
                  <a:srgbClr val="F8FAFC"/>
                </a:solidFill>
                <a:latin typeface="Arial"/>
              </a:defRPr>
            </a:pPr>
            <a:r>
              <a:t>•  Git &amp; GitHub: Distributed version control with branching strategies and automated subtree deployments.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MODULAR DECOMPOSITION</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10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Application Functional Modules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Decomposition of the system into five cohesive, decoupled subsystems.</a:t>
            </a:r>
          </a:p>
        </p:txBody>
      </p:sp>
      <p:sp>
        <p:nvSpPr>
          <p:cNvPr id="7" name="Rounded Rectangle 6"/>
          <p:cNvSpPr/>
          <p:nvPr/>
        </p:nvSpPr>
        <p:spPr>
          <a:xfrm>
            <a:off x="731520" y="1828800"/>
            <a:ext cx="33832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411480"/>
          </a:xfrm>
          <a:prstGeom prst="rect">
            <a:avLst/>
          </a:prstGeom>
          <a:noFill/>
        </p:spPr>
        <p:txBody>
          <a:bodyPr wrap="square">
            <a:spAutoFit/>
          </a:bodyPr>
          <a:lstStyle/>
          <a:p>
            <a:pPr>
              <a:defRPr sz="1300" b="1">
                <a:solidFill>
                  <a:srgbClr val="1DCD9F"/>
                </a:solidFill>
                <a:latin typeface="Arial"/>
              </a:defRPr>
            </a:pPr>
            <a:r>
              <a:t>Module 1: Authentication &amp; Identity</a:t>
            </a:r>
          </a:p>
        </p:txBody>
      </p:sp>
      <p:sp>
        <p:nvSpPr>
          <p:cNvPr id="9" name="TextBox 8"/>
          <p:cNvSpPr txBox="1"/>
          <p:nvPr/>
        </p:nvSpPr>
        <p:spPr>
          <a:xfrm>
            <a:off x="914400" y="2423160"/>
            <a:ext cx="3017520" cy="1417320"/>
          </a:xfrm>
          <a:prstGeom prst="rect">
            <a:avLst/>
          </a:prstGeom>
          <a:noFill/>
        </p:spPr>
        <p:txBody>
          <a:bodyPr wrap="square">
            <a:spAutoFit/>
          </a:bodyPr>
          <a:lstStyle/>
          <a:p>
            <a:pPr>
              <a:defRPr sz="1050">
                <a:solidFill>
                  <a:srgbClr val="94A3B8"/>
                </a:solidFill>
                <a:latin typeface="Arial"/>
              </a:defRPr>
            </a:pPr>
            <a:r>
              <a:t>Enforces strict Gmail domain regex, dispatches GoTrue confirmation emails, triggers automatic profile creation, and tracks sign-in timestamps and login counts.</a:t>
            </a:r>
          </a:p>
        </p:txBody>
      </p:sp>
      <p:sp>
        <p:nvSpPr>
          <p:cNvPr id="10" name="Rounded Rectangle 9"/>
          <p:cNvSpPr/>
          <p:nvPr/>
        </p:nvSpPr>
        <p:spPr>
          <a:xfrm>
            <a:off x="4389120" y="1828800"/>
            <a:ext cx="33832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017520" cy="411480"/>
          </a:xfrm>
          <a:prstGeom prst="rect">
            <a:avLst/>
          </a:prstGeom>
          <a:noFill/>
        </p:spPr>
        <p:txBody>
          <a:bodyPr wrap="square">
            <a:spAutoFit/>
          </a:bodyPr>
          <a:lstStyle/>
          <a:p>
            <a:pPr>
              <a:defRPr sz="1300" b="1">
                <a:solidFill>
                  <a:srgbClr val="1DCD9F"/>
                </a:solidFill>
                <a:latin typeface="Arial"/>
              </a:defRPr>
            </a:pPr>
            <a:r>
              <a:t>Module 2: Event Discovery &amp; Calendar</a:t>
            </a:r>
          </a:p>
        </p:txBody>
      </p:sp>
      <p:sp>
        <p:nvSpPr>
          <p:cNvPr id="12" name="TextBox 11"/>
          <p:cNvSpPr txBox="1"/>
          <p:nvPr/>
        </p:nvSpPr>
        <p:spPr>
          <a:xfrm>
            <a:off x="4572000" y="2423160"/>
            <a:ext cx="3017520" cy="1417320"/>
          </a:xfrm>
          <a:prstGeom prst="rect">
            <a:avLst/>
          </a:prstGeom>
          <a:noFill/>
        </p:spPr>
        <p:txBody>
          <a:bodyPr wrap="square">
            <a:spAutoFit/>
          </a:bodyPr>
          <a:lstStyle/>
          <a:p>
            <a:pPr>
              <a:defRPr sz="1050">
                <a:solidFill>
                  <a:srgbClr val="94A3B8"/>
                </a:solidFill>
                <a:latin typeface="Arial"/>
              </a:defRPr>
            </a:pPr>
            <a:r>
              <a:t>Renders an interactive day-by-day horizontal calendar bar, real-time search engine, active/past event switches, and category color badges (Tech, Cultural, Sports, Workshop).</a:t>
            </a:r>
          </a:p>
        </p:txBody>
      </p:sp>
      <p:sp>
        <p:nvSpPr>
          <p:cNvPr id="13" name="Rounded Rectangle 12"/>
          <p:cNvSpPr/>
          <p:nvPr/>
        </p:nvSpPr>
        <p:spPr>
          <a:xfrm>
            <a:off x="8046720" y="1828800"/>
            <a:ext cx="33832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65960"/>
            <a:ext cx="3017520" cy="411480"/>
          </a:xfrm>
          <a:prstGeom prst="rect">
            <a:avLst/>
          </a:prstGeom>
          <a:noFill/>
        </p:spPr>
        <p:txBody>
          <a:bodyPr wrap="square">
            <a:spAutoFit/>
          </a:bodyPr>
          <a:lstStyle/>
          <a:p>
            <a:pPr>
              <a:defRPr sz="1300" b="1">
                <a:solidFill>
                  <a:srgbClr val="1DCD9F"/>
                </a:solidFill>
                <a:latin typeface="Arial"/>
              </a:defRPr>
            </a:pPr>
            <a:r>
              <a:t>Module 3: Event Publishing Engine</a:t>
            </a:r>
          </a:p>
        </p:txBody>
      </p:sp>
      <p:sp>
        <p:nvSpPr>
          <p:cNvPr id="15" name="TextBox 14"/>
          <p:cNvSpPr txBox="1"/>
          <p:nvPr/>
        </p:nvSpPr>
        <p:spPr>
          <a:xfrm>
            <a:off x="8229600" y="2423160"/>
            <a:ext cx="3017520" cy="1417320"/>
          </a:xfrm>
          <a:prstGeom prst="rect">
            <a:avLst/>
          </a:prstGeom>
          <a:noFill/>
        </p:spPr>
        <p:txBody>
          <a:bodyPr wrap="square">
            <a:spAutoFit/>
          </a:bodyPr>
          <a:lstStyle/>
          <a:p>
            <a:pPr>
              <a:defRPr sz="1050">
                <a:solidFill>
                  <a:srgbClr val="94A3B8"/>
                </a:solidFill>
                <a:latin typeface="Arial"/>
              </a:defRPr>
            </a:pPr>
            <a:r>
              <a:t>Allows authorized organizers to publish events with title, description, venue, multi-date pickers, capacity limits, and image poster uploads to Supabase storage.</a:t>
            </a:r>
          </a:p>
        </p:txBody>
      </p:sp>
      <p:sp>
        <p:nvSpPr>
          <p:cNvPr id="16" name="Rounded Rectangle 15"/>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Module 4: Registration &amp; Offline Saved</a:t>
            </a:r>
          </a:p>
        </p:txBody>
      </p:sp>
      <p:sp>
        <p:nvSpPr>
          <p:cNvPr id="18" name="TextBox 17"/>
          <p:cNvSpPr txBox="1"/>
          <p:nvPr/>
        </p:nvSpPr>
        <p:spPr>
          <a:xfrm>
            <a:off x="914400" y="4800600"/>
            <a:ext cx="4846320" cy="1417320"/>
          </a:xfrm>
          <a:prstGeom prst="rect">
            <a:avLst/>
          </a:prstGeom>
          <a:noFill/>
        </p:spPr>
        <p:txBody>
          <a:bodyPr wrap="square">
            <a:spAutoFit/>
          </a:bodyPr>
          <a:lstStyle/>
          <a:p>
            <a:pPr>
              <a:defRPr sz="1050">
                <a:solidFill>
                  <a:srgbClr val="94A3B8"/>
                </a:solidFill>
                <a:latin typeface="Arial"/>
              </a:defRPr>
            </a:pPr>
            <a:r>
              <a:t>Enables one-tap event RSVP with real-time seat availability checks. Provides offline-first event bookmarking saved to local device cache.</a:t>
            </a:r>
          </a:p>
        </p:txBody>
      </p:sp>
      <p:sp>
        <p:nvSpPr>
          <p:cNvPr id="19" name="Rounded Rectangle 18"/>
          <p:cNvSpPr/>
          <p:nvPr/>
        </p:nvSpPr>
        <p:spPr>
          <a:xfrm>
            <a:off x="6217920" y="420624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Module 5: Security &amp; Audit Logging</a:t>
            </a:r>
          </a:p>
        </p:txBody>
      </p:sp>
      <p:sp>
        <p:nvSpPr>
          <p:cNvPr id="21" name="TextBox 20"/>
          <p:cNvSpPr txBox="1"/>
          <p:nvPr/>
        </p:nvSpPr>
        <p:spPr>
          <a:xfrm>
            <a:off x="6400800" y="4800600"/>
            <a:ext cx="4846320" cy="1417320"/>
          </a:xfrm>
          <a:prstGeom prst="rect">
            <a:avLst/>
          </a:prstGeom>
          <a:noFill/>
        </p:spPr>
        <p:txBody>
          <a:bodyPr wrap="square">
            <a:spAutoFit/>
          </a:bodyPr>
          <a:lstStyle/>
          <a:p>
            <a:pPr>
              <a:defRPr sz="1050">
                <a:solidFill>
                  <a:srgbClr val="94A3B8"/>
                </a:solidFill>
                <a:latin typeface="Arial"/>
              </a:defRPr>
            </a:pPr>
            <a:r>
              <a:t>Captures user sign-in events, client IP addresses, user agents, and timestamps in sign_in_logs. Manages Row Level Security policies across all database tables.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UI / UX DESIGN</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11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User Interface Design &amp; Visual Engineering</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Clean dark aesthetic engineered for battery efficiency, visual hierarchy, and mobile ergonomics.</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Screen 1: Welcome &amp; Auth</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Dark canvas (#000000) with high-contrast inputs.</a:t>
            </a:r>
          </a:p>
          <a:p>
            <a:pPr>
              <a:spcAft>
                <a:spcPts val="600"/>
              </a:spcAft>
              <a:defRPr sz="1000">
                <a:solidFill>
                  <a:srgbClr val="F8FAFC"/>
                </a:solidFill>
                <a:latin typeface="Arial"/>
              </a:defRPr>
            </a:pPr>
            <a:r>
              <a:t>•  Inline Gmail format verification with dynamic feedback.</a:t>
            </a:r>
          </a:p>
          <a:p>
            <a:pPr>
              <a:spcAft>
                <a:spcPts val="600"/>
              </a:spcAft>
              <a:defRPr sz="1000">
                <a:solidFill>
                  <a:srgbClr val="F8FAFC"/>
                </a:solidFill>
                <a:latin typeface="Arial"/>
              </a:defRPr>
            </a:pPr>
            <a:r>
              <a:t>•  Warning banner alert: 'Please use @gmail.com'.</a:t>
            </a:r>
          </a:p>
          <a:p>
            <a:pPr>
              <a:spcAft>
                <a:spcPts val="600"/>
              </a:spcAft>
              <a:defRPr sz="1000">
                <a:solidFill>
                  <a:srgbClr val="F8FAFC"/>
                </a:solidFill>
                <a:latin typeface="Arial"/>
              </a:defRPr>
            </a:pPr>
            <a:r>
              <a:t>•  One-click 'Resend Confirmation Email' banner for unverified accounts.</a:t>
            </a:r>
          </a:p>
        </p:txBody>
      </p:sp>
      <p:sp>
        <p:nvSpPr>
          <p:cNvPr id="10" name="Rounded Rectangle 9"/>
          <p:cNvSpPr/>
          <p:nvPr/>
        </p:nvSpPr>
        <p:spPr>
          <a:xfrm>
            <a:off x="62179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Screen 2: Home &amp; Calendar Feed</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Horizontal scrollable calendar date strip with active day pill.</a:t>
            </a:r>
          </a:p>
          <a:p>
            <a:pPr>
              <a:spcAft>
                <a:spcPts val="600"/>
              </a:spcAft>
              <a:defRPr sz="1000">
                <a:solidFill>
                  <a:srgbClr val="F8FAFC"/>
                </a:solidFill>
                <a:latin typeface="Arial"/>
              </a:defRPr>
            </a:pPr>
            <a:r>
              <a:t>•  Category badges: Cyan (Tech), Pink (Cultural), Orange (Sports).</a:t>
            </a:r>
          </a:p>
          <a:p>
            <a:pPr>
              <a:spcAft>
                <a:spcPts val="600"/>
              </a:spcAft>
              <a:defRPr sz="1000">
                <a:solidFill>
                  <a:srgbClr val="F8FAFC"/>
                </a:solidFill>
                <a:latin typeface="Arial"/>
              </a:defRPr>
            </a:pPr>
            <a:r>
              <a:t>•  Event cards displaying title, venue, time, and organizer avatar.</a:t>
            </a:r>
          </a:p>
          <a:p>
            <a:pPr>
              <a:spcAft>
                <a:spcPts val="600"/>
              </a:spcAft>
              <a:defRPr sz="1000">
                <a:solidFill>
                  <a:srgbClr val="F8FAFC"/>
                </a:solidFill>
                <a:latin typeface="Arial"/>
              </a:defRPr>
            </a:pPr>
            <a:r>
              <a:t>•  Pull-to-refresh gesture synchronizing latest cloud events.</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Screen 3: Explore &amp; Filters</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Live search input with real-time text matching.</a:t>
            </a:r>
          </a:p>
          <a:p>
            <a:pPr>
              <a:spcAft>
                <a:spcPts val="600"/>
              </a:spcAft>
              <a:defRPr sz="1000">
                <a:solidFill>
                  <a:srgbClr val="F8FAFC"/>
                </a:solidFill>
                <a:latin typeface="Arial"/>
              </a:defRPr>
            </a:pPr>
            <a:r>
              <a:t>•  Filter modal supporting category, date range, and free/paid options.</a:t>
            </a:r>
          </a:p>
          <a:p>
            <a:pPr>
              <a:spcAft>
                <a:spcPts val="600"/>
              </a:spcAft>
              <a:defRPr sz="1000">
                <a:solidFill>
                  <a:srgbClr val="F8FAFC"/>
                </a:solidFill>
                <a:latin typeface="Arial"/>
              </a:defRPr>
            </a:pPr>
            <a:r>
              <a:t>•  Compact list view optimized for high information density.</a:t>
            </a:r>
          </a:p>
          <a:p>
            <a:pPr>
              <a:spcAft>
                <a:spcPts val="600"/>
              </a:spcAft>
              <a:defRPr sz="1000">
                <a:solidFill>
                  <a:srgbClr val="F8FAFC"/>
                </a:solidFill>
                <a:latin typeface="Arial"/>
              </a:defRPr>
            </a:pPr>
            <a:r>
              <a:t>•  Quick-bookmark icon button with immediate tactile feedback.</a:t>
            </a:r>
          </a:p>
        </p:txBody>
      </p:sp>
      <p:sp>
        <p:nvSpPr>
          <p:cNvPr id="16" name="Rounded Rectangle 15"/>
          <p:cNvSpPr/>
          <p:nvPr/>
        </p:nvSpPr>
        <p:spPr>
          <a:xfrm>
            <a:off x="62179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Screen 4: Event Details &amp; RSVP</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Immersive top banner hero image with subtle gradient overlay.</a:t>
            </a:r>
          </a:p>
          <a:p>
            <a:pPr>
              <a:spcAft>
                <a:spcPts val="600"/>
              </a:spcAft>
              <a:defRPr sz="1000">
                <a:solidFill>
                  <a:srgbClr val="F8FAFC"/>
                </a:solidFill>
                <a:latin typeface="Arial"/>
              </a:defRPr>
            </a:pPr>
            <a:r>
              <a:t>•  Full event description, schedule timeline, and venue map link.</a:t>
            </a:r>
          </a:p>
          <a:p>
            <a:pPr>
              <a:spcAft>
                <a:spcPts val="600"/>
              </a:spcAft>
              <a:defRPr sz="1000">
                <a:solidFill>
                  <a:srgbClr val="F8FAFC"/>
                </a:solidFill>
                <a:latin typeface="Arial"/>
              </a:defRPr>
            </a:pPr>
            <a:r>
              <a:t>•  Real-time seat counter badge: e.g., '142 / 200 seats filled'.</a:t>
            </a:r>
          </a:p>
          <a:p>
            <a:pPr>
              <a:spcAft>
                <a:spcPts val="600"/>
              </a:spcAft>
              <a:defRPr sz="1000">
                <a:solidFill>
                  <a:srgbClr val="F8FAFC"/>
                </a:solidFill>
                <a:latin typeface="Arial"/>
              </a:defRPr>
            </a:pPr>
            <a:r>
              <a:t>•  Floating bottom action button: 'Register Now' or 'Already Registered'.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CORE CAPABILITIES</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12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Key Functional Features Spotlight</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Deep dive into the critical features implemented and verified in the production release.</a:t>
            </a:r>
          </a:p>
        </p:txBody>
      </p:sp>
      <p:sp>
        <p:nvSpPr>
          <p:cNvPr id="7" name="Rounded Rectangle 6"/>
          <p:cNvSpPr/>
          <p:nvPr/>
        </p:nvSpPr>
        <p:spPr>
          <a:xfrm>
            <a:off x="731520" y="182880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Strict Gmail Format &amp; Verification</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Regex Rule: ^[a-z0-9](\.?[a-z0-9]){5,29}@gmail\.com$</a:t>
            </a:r>
          </a:p>
          <a:p>
            <a:pPr>
              <a:spcAft>
                <a:spcPts val="600"/>
              </a:spcAft>
              <a:defRPr sz="1000">
                <a:solidFill>
                  <a:srgbClr val="F8FAFC"/>
                </a:solidFill>
                <a:latin typeface="Arial"/>
              </a:defRPr>
            </a:pPr>
            <a:r>
              <a:t>•  Enforces 6 to 30 characters, alphanumeric with non-consecutive dots.</a:t>
            </a:r>
          </a:p>
          <a:p>
            <a:pPr>
              <a:spcAft>
                <a:spcPts val="600"/>
              </a:spcAft>
              <a:defRPr sz="1000">
                <a:solidFill>
                  <a:srgbClr val="F8FAFC"/>
                </a:solidFill>
                <a:latin typeface="Arial"/>
              </a:defRPr>
            </a:pPr>
            <a:r>
              <a:t>•  Rejects temporary/disposable domains (e.g. mailinator, tempmail).</a:t>
            </a:r>
          </a:p>
          <a:p>
            <a:pPr>
              <a:spcAft>
                <a:spcPts val="600"/>
              </a:spcAft>
              <a:defRPr sz="1000">
                <a:solidFill>
                  <a:srgbClr val="F8FAFC"/>
                </a:solidFill>
                <a:latin typeface="Arial"/>
              </a:defRPr>
            </a:pPr>
            <a:r>
              <a:t>•  Integrates GoTrue two-factor email link verification flow.</a:t>
            </a:r>
          </a:p>
        </p:txBody>
      </p:sp>
      <p:sp>
        <p:nvSpPr>
          <p:cNvPr id="10" name="Rounded Rectangle 9"/>
          <p:cNvSpPr/>
          <p:nvPr/>
        </p:nvSpPr>
        <p:spPr>
          <a:xfrm>
            <a:off x="6217920" y="182880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Real-Time Sign-In Audit Logging</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Automated audit trail created in PostgreSQL sign_in_logs table.</a:t>
            </a:r>
          </a:p>
          <a:p>
            <a:pPr>
              <a:spcAft>
                <a:spcPts val="600"/>
              </a:spcAft>
              <a:defRPr sz="1000">
                <a:solidFill>
                  <a:srgbClr val="F8FAFC"/>
                </a:solidFill>
                <a:latin typeface="Arial"/>
              </a:defRPr>
            </a:pPr>
            <a:r>
              <a:t>•  Captures user_id, auth_method, ip_address, and client user_agent.</a:t>
            </a:r>
          </a:p>
          <a:p>
            <a:pPr>
              <a:spcAft>
                <a:spcPts val="600"/>
              </a:spcAft>
              <a:defRPr sz="1000">
                <a:solidFill>
                  <a:srgbClr val="F8FAFC"/>
                </a:solidFill>
                <a:latin typeface="Arial"/>
              </a:defRPr>
            </a:pPr>
            <a:r>
              <a:t>•  Increments user profile sign_in_count and updates last_sign_in_at.</a:t>
            </a:r>
          </a:p>
          <a:p>
            <a:pPr>
              <a:spcAft>
                <a:spcPts val="600"/>
              </a:spcAft>
              <a:defRPr sz="1000">
                <a:solidFill>
                  <a:srgbClr val="F8FAFC"/>
                </a:solidFill>
                <a:latin typeface="Arial"/>
              </a:defRPr>
            </a:pPr>
            <a:r>
              <a:t>•  Allows campus administrators to trace unauthorized account access.</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Interactive Multi-Category Calendar</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Day-by-day synchronized timeline matching college schedules.</a:t>
            </a:r>
          </a:p>
          <a:p>
            <a:pPr>
              <a:spcAft>
                <a:spcPts val="600"/>
              </a:spcAft>
              <a:defRPr sz="1000">
                <a:solidFill>
                  <a:srgbClr val="F8FAFC"/>
                </a:solidFill>
                <a:latin typeface="Arial"/>
              </a:defRPr>
            </a:pPr>
            <a:r>
              <a:t>•  Instant category filtering: Technical, Workshops, Cultural, Sports.</a:t>
            </a:r>
          </a:p>
          <a:p>
            <a:pPr>
              <a:spcAft>
                <a:spcPts val="600"/>
              </a:spcAft>
              <a:defRPr sz="1000">
                <a:solidFill>
                  <a:srgbClr val="F8FAFC"/>
                </a:solidFill>
                <a:latin typeface="Arial"/>
              </a:defRPr>
            </a:pPr>
            <a:r>
              <a:t>•  Prevents date conflicts by visually displaying concurrent events.</a:t>
            </a:r>
          </a:p>
          <a:p>
            <a:pPr>
              <a:spcAft>
                <a:spcPts val="600"/>
              </a:spcAft>
              <a:defRPr sz="1000">
                <a:solidFill>
                  <a:srgbClr val="F8FAFC"/>
                </a:solidFill>
                <a:latin typeface="Arial"/>
              </a:defRPr>
            </a:pPr>
            <a:r>
              <a:t>•  Clear event status: 'Upcoming', 'Ongoing', 'Completed'.</a:t>
            </a:r>
          </a:p>
        </p:txBody>
      </p:sp>
      <p:sp>
        <p:nvSpPr>
          <p:cNvPr id="16" name="Rounded Rectangle 15"/>
          <p:cNvSpPr/>
          <p:nvPr/>
        </p:nvSpPr>
        <p:spPr>
          <a:xfrm>
            <a:off x="62179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Offline Bookmarks &amp; Same-Origin APK</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AsyncStorage caching allows instant offline event viewing.</a:t>
            </a:r>
          </a:p>
          <a:p>
            <a:pPr>
              <a:spcAft>
                <a:spcPts val="600"/>
              </a:spcAft>
              <a:defRPr sz="1000">
                <a:solidFill>
                  <a:srgbClr val="F8FAFC"/>
                </a:solidFill>
                <a:latin typeface="Arial"/>
              </a:defRPr>
            </a:pPr>
            <a:r>
              <a:t>•  Dedicated GitHub Pages portal providing direct same-origin APK downloads.</a:t>
            </a:r>
          </a:p>
          <a:p>
            <a:pPr>
              <a:spcAft>
                <a:spcPts val="600"/>
              </a:spcAft>
              <a:defRPr sz="1000">
                <a:solidFill>
                  <a:srgbClr val="F8FAFC"/>
                </a:solidFill>
                <a:latin typeface="Arial"/>
              </a:defRPr>
            </a:pPr>
            <a:r>
              <a:t>•  Bypasses mobile Chrome cross-origin download blocking completely.</a:t>
            </a:r>
          </a:p>
          <a:p>
            <a:pPr>
              <a:spcAft>
                <a:spcPts val="600"/>
              </a:spcAft>
              <a:defRPr sz="1000">
                <a:solidFill>
                  <a:srgbClr val="F8FAFC"/>
                </a:solidFill>
                <a:latin typeface="Arial"/>
              </a:defRPr>
            </a:pPr>
            <a:r>
              <a:t>•  Includes live SHA-256 verification checksum on download landing page.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PROCESS FLOW</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13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Application Workflow &amp; Data Flow Pipeline</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Step-by-step user journey, API transaction lifecycle, and database mutation processing.</a:t>
            </a:r>
          </a:p>
        </p:txBody>
      </p:sp>
      <p:sp>
        <p:nvSpPr>
          <p:cNvPr id="7" name="Rounded Rectangle 6"/>
          <p:cNvSpPr/>
          <p:nvPr/>
        </p:nvSpPr>
        <p:spPr>
          <a:xfrm>
            <a:off x="731520" y="1828800"/>
            <a:ext cx="33832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3017520" cy="411480"/>
          </a:xfrm>
          <a:prstGeom prst="rect">
            <a:avLst/>
          </a:prstGeom>
          <a:noFill/>
        </p:spPr>
        <p:txBody>
          <a:bodyPr wrap="square">
            <a:spAutoFit/>
          </a:bodyPr>
          <a:lstStyle/>
          <a:p>
            <a:pPr>
              <a:defRPr sz="1300" b="1">
                <a:solidFill>
                  <a:srgbClr val="1DCD9F"/>
                </a:solidFill>
                <a:latin typeface="Arial"/>
              </a:defRPr>
            </a:pPr>
            <a:r>
              <a:t>1. Student User Journey</a:t>
            </a:r>
          </a:p>
        </p:txBody>
      </p:sp>
      <p:sp>
        <p:nvSpPr>
          <p:cNvPr id="9" name="TextBox 8"/>
          <p:cNvSpPr txBox="1"/>
          <p:nvPr/>
        </p:nvSpPr>
        <p:spPr>
          <a:xfrm>
            <a:off x="914400" y="2377440"/>
            <a:ext cx="30175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Step 1: Sign up with validated @gmail.com address.</a:t>
            </a:r>
          </a:p>
          <a:p>
            <a:pPr>
              <a:spcAft>
                <a:spcPts val="600"/>
              </a:spcAft>
              <a:defRPr sz="1050">
                <a:solidFill>
                  <a:srgbClr val="F8FAFC"/>
                </a:solidFill>
                <a:latin typeface="Arial"/>
              </a:defRPr>
            </a:pPr>
            <a:r>
              <a:t>•  Step 2: Receive verification email; click confirmation link to activate session.</a:t>
            </a:r>
          </a:p>
          <a:p>
            <a:pPr>
              <a:spcAft>
                <a:spcPts val="600"/>
              </a:spcAft>
              <a:defRPr sz="1050">
                <a:solidFill>
                  <a:srgbClr val="F8FAFC"/>
                </a:solidFill>
                <a:latin typeface="Arial"/>
              </a:defRPr>
            </a:pPr>
            <a:r>
              <a:t>•  Step 3: Browse synchronized calendar feed by selected date or category.</a:t>
            </a:r>
          </a:p>
          <a:p>
            <a:pPr>
              <a:spcAft>
                <a:spcPts val="600"/>
              </a:spcAft>
              <a:defRPr sz="1050">
                <a:solidFill>
                  <a:srgbClr val="F8FAFC"/>
                </a:solidFill>
                <a:latin typeface="Arial"/>
              </a:defRPr>
            </a:pPr>
            <a:r>
              <a:t>•  Step 4: Tap event card to view full agenda, rules, and speaker details.</a:t>
            </a:r>
          </a:p>
          <a:p>
            <a:pPr>
              <a:spcAft>
                <a:spcPts val="600"/>
              </a:spcAft>
              <a:defRPr sz="1050">
                <a:solidFill>
                  <a:srgbClr val="F8FAFC"/>
                </a:solidFill>
                <a:latin typeface="Arial"/>
              </a:defRPr>
            </a:pPr>
            <a:r>
              <a:t>•  Step 5: One-tap 'Register' button reserves seat; offline bookmark saved.</a:t>
            </a:r>
          </a:p>
        </p:txBody>
      </p:sp>
      <p:sp>
        <p:nvSpPr>
          <p:cNvPr id="10" name="Rounded Rectangle 9"/>
          <p:cNvSpPr/>
          <p:nvPr/>
        </p:nvSpPr>
        <p:spPr>
          <a:xfrm>
            <a:off x="4389120" y="1828800"/>
            <a:ext cx="33832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965960"/>
            <a:ext cx="3017520" cy="411480"/>
          </a:xfrm>
          <a:prstGeom prst="rect">
            <a:avLst/>
          </a:prstGeom>
          <a:noFill/>
        </p:spPr>
        <p:txBody>
          <a:bodyPr wrap="square">
            <a:spAutoFit/>
          </a:bodyPr>
          <a:lstStyle/>
          <a:p>
            <a:pPr>
              <a:defRPr sz="1300" b="1">
                <a:solidFill>
                  <a:srgbClr val="1DCD9F"/>
                </a:solidFill>
                <a:latin typeface="Arial"/>
              </a:defRPr>
            </a:pPr>
            <a:r>
              <a:t>2. Organizer Event Lifecycle</a:t>
            </a:r>
          </a:p>
        </p:txBody>
      </p:sp>
      <p:sp>
        <p:nvSpPr>
          <p:cNvPr id="12" name="TextBox 11"/>
          <p:cNvSpPr txBox="1"/>
          <p:nvPr/>
        </p:nvSpPr>
        <p:spPr>
          <a:xfrm>
            <a:off x="4572000" y="2377440"/>
            <a:ext cx="30175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Step 1: Authenticate with approved club coordinator credentials.</a:t>
            </a:r>
          </a:p>
          <a:p>
            <a:pPr>
              <a:spcAft>
                <a:spcPts val="600"/>
              </a:spcAft>
              <a:defRPr sz="1050">
                <a:solidFill>
                  <a:srgbClr val="F8FAFC"/>
                </a:solidFill>
                <a:latin typeface="Arial"/>
              </a:defRPr>
            </a:pPr>
            <a:r>
              <a:t>•  Step 2: Open Event Creation form; fill title, venue, and timeline.</a:t>
            </a:r>
          </a:p>
          <a:p>
            <a:pPr>
              <a:spcAft>
                <a:spcPts val="600"/>
              </a:spcAft>
              <a:defRPr sz="1050">
                <a:solidFill>
                  <a:srgbClr val="F8FAFC"/>
                </a:solidFill>
                <a:latin typeface="Arial"/>
              </a:defRPr>
            </a:pPr>
            <a:r>
              <a:t>•  Step 3: Upload promotional poster image directly to Supabase storage.</a:t>
            </a:r>
          </a:p>
          <a:p>
            <a:pPr>
              <a:spcAft>
                <a:spcPts val="600"/>
              </a:spcAft>
              <a:defRPr sz="1050">
                <a:solidFill>
                  <a:srgbClr val="F8FAFC"/>
                </a:solidFill>
                <a:latin typeface="Arial"/>
              </a:defRPr>
            </a:pPr>
            <a:r>
              <a:t>•  Step 4: Set maximum attendee capacity constraint.</a:t>
            </a:r>
          </a:p>
          <a:p>
            <a:pPr>
              <a:spcAft>
                <a:spcPts val="600"/>
              </a:spcAft>
              <a:defRPr sz="1050">
                <a:solidFill>
                  <a:srgbClr val="F8FAFC"/>
                </a:solidFill>
                <a:latin typeface="Arial"/>
              </a:defRPr>
            </a:pPr>
            <a:r>
              <a:t>•  Step 5: Publish event; real-time SQL trigger broadcasts event to all students.</a:t>
            </a:r>
          </a:p>
        </p:txBody>
      </p:sp>
      <p:sp>
        <p:nvSpPr>
          <p:cNvPr id="13" name="Rounded Rectangle 12"/>
          <p:cNvSpPr/>
          <p:nvPr/>
        </p:nvSpPr>
        <p:spPr>
          <a:xfrm>
            <a:off x="8046720" y="1828800"/>
            <a:ext cx="3383280" cy="448056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65960"/>
            <a:ext cx="3017520" cy="411480"/>
          </a:xfrm>
          <a:prstGeom prst="rect">
            <a:avLst/>
          </a:prstGeom>
          <a:noFill/>
        </p:spPr>
        <p:txBody>
          <a:bodyPr wrap="square">
            <a:spAutoFit/>
          </a:bodyPr>
          <a:lstStyle/>
          <a:p>
            <a:pPr>
              <a:defRPr sz="1300" b="1">
                <a:solidFill>
                  <a:srgbClr val="1DCD9F"/>
                </a:solidFill>
                <a:latin typeface="Arial"/>
              </a:defRPr>
            </a:pPr>
            <a:r>
              <a:t>3. Request Data Flow Pipeline</a:t>
            </a:r>
          </a:p>
        </p:txBody>
      </p:sp>
      <p:sp>
        <p:nvSpPr>
          <p:cNvPr id="15" name="TextBox 14"/>
          <p:cNvSpPr txBox="1"/>
          <p:nvPr/>
        </p:nvSpPr>
        <p:spPr>
          <a:xfrm>
            <a:off x="8229600" y="2377440"/>
            <a:ext cx="3017520" cy="3749039"/>
          </a:xfrm>
          <a:prstGeom prst="rect">
            <a:avLst/>
          </a:prstGeom>
          <a:noFill/>
        </p:spPr>
        <p:txBody>
          <a:bodyPr wrap="square" tIns="0" bIns="0" lIns="0" rIns="0">
            <a:spAutoFit/>
          </a:bodyPr>
          <a:lstStyle/>
          <a:p>
            <a:pPr>
              <a:spcAft>
                <a:spcPts val="600"/>
              </a:spcAft>
              <a:defRPr sz="1050">
                <a:solidFill>
                  <a:srgbClr val="F8FAFC"/>
                </a:solidFill>
                <a:latin typeface="Arial"/>
              </a:defRPr>
            </a:pPr>
            <a:r>
              <a:t>•  Mobile Client: Formulates HTTP request with Bearer JWT token in headers.</a:t>
            </a:r>
          </a:p>
          <a:p>
            <a:pPr>
              <a:spcAft>
                <a:spcPts val="600"/>
              </a:spcAft>
              <a:defRPr sz="1050">
                <a:solidFill>
                  <a:srgbClr val="F8FAFC"/>
                </a:solidFill>
                <a:latin typeface="Arial"/>
              </a:defRPr>
            </a:pPr>
            <a:r>
              <a:t>•  Render API Gateway: Applies Express Rate Limit and Zod schema validation.</a:t>
            </a:r>
          </a:p>
          <a:p>
            <a:pPr>
              <a:spcAft>
                <a:spcPts val="600"/>
              </a:spcAft>
              <a:defRPr sz="1050">
                <a:solidFill>
                  <a:srgbClr val="F8FAFC"/>
                </a:solidFill>
                <a:latin typeface="Arial"/>
              </a:defRPr>
            </a:pPr>
            <a:r>
              <a:t>•  Auth Middleware: Verifies JWT signature against Supabase public keys.</a:t>
            </a:r>
          </a:p>
          <a:p>
            <a:pPr>
              <a:spcAft>
                <a:spcPts val="600"/>
              </a:spcAft>
              <a:defRPr sz="1050">
                <a:solidFill>
                  <a:srgbClr val="F8FAFC"/>
                </a:solidFill>
                <a:latin typeface="Arial"/>
              </a:defRPr>
            </a:pPr>
            <a:r>
              <a:t>•  PostgreSQL DB: Evaluates Row Level Security (RLS) policies for user ID.</a:t>
            </a:r>
          </a:p>
          <a:p>
            <a:pPr>
              <a:spcAft>
                <a:spcPts val="600"/>
              </a:spcAft>
              <a:defRPr sz="1050">
                <a:solidFill>
                  <a:srgbClr val="F8FAFC"/>
                </a:solidFill>
                <a:latin typeface="Arial"/>
              </a:defRPr>
            </a:pPr>
            <a:r>
              <a:t>•  Audit Engine: Writes event record to sign_in_logs table asynchronously.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DATA MODELING</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14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Relational Database Design &amp; RLS Schema</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Entity-Relationship structure, automated SQL triggers, and table definitions in Supabase PostgreSQL.</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Table: profiles &amp; sign_in_logs</a:t>
            </a:r>
          </a:p>
        </p:txBody>
      </p:sp>
      <p:sp>
        <p:nvSpPr>
          <p:cNvPr id="9" name="TextBox 8"/>
          <p:cNvSpPr txBox="1"/>
          <p:nvPr/>
        </p:nvSpPr>
        <p:spPr>
          <a:xfrm>
            <a:off x="914400" y="237744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profiles: id (UUID PK, FK to auth.users), full_name, email, department, academic_year, college_id, last_sign_in_at, sign_in_count.</a:t>
            </a:r>
          </a:p>
          <a:p>
            <a:pPr>
              <a:spcAft>
                <a:spcPts val="600"/>
              </a:spcAft>
              <a:defRPr sz="1000">
                <a:solidFill>
                  <a:srgbClr val="F8FAFC"/>
                </a:solidFill>
                <a:latin typeface="Arial"/>
              </a:defRPr>
            </a:pPr>
            <a:r>
              <a:t>•  sign_in_logs: id (UUID PK), user_id (FK to profiles.id), sign_in_method (email/google), ip_address (INET), user_agent (TEXT), created_at.</a:t>
            </a:r>
          </a:p>
          <a:p>
            <a:pPr>
              <a:spcAft>
                <a:spcPts val="600"/>
              </a:spcAft>
              <a:defRPr sz="1000">
                <a:solidFill>
                  <a:srgbClr val="F8FAFC"/>
                </a:solidFill>
                <a:latin typeface="Arial"/>
              </a:defRPr>
            </a:pPr>
            <a:r>
              <a:t>•  Security: Users can only read/update their own profile row via RLS policy.</a:t>
            </a:r>
          </a:p>
        </p:txBody>
      </p:sp>
      <p:sp>
        <p:nvSpPr>
          <p:cNvPr id="10" name="Rounded Rectangle 9"/>
          <p:cNvSpPr/>
          <p:nvPr/>
        </p:nvSpPr>
        <p:spPr>
          <a:xfrm>
            <a:off x="62179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Table: events &amp; categories</a:t>
            </a:r>
          </a:p>
        </p:txBody>
      </p:sp>
      <p:sp>
        <p:nvSpPr>
          <p:cNvPr id="12" name="TextBox 11"/>
          <p:cNvSpPr txBox="1"/>
          <p:nvPr/>
        </p:nvSpPr>
        <p:spPr>
          <a:xfrm>
            <a:off x="6400800" y="237744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events: id (UUID PK), title, description, category_id (FK), organizer_id (FK), venue, start_date, end_date, poster_url, max_capacity.</a:t>
            </a:r>
          </a:p>
          <a:p>
            <a:pPr>
              <a:spcAft>
                <a:spcPts val="600"/>
              </a:spcAft>
              <a:defRPr sz="1000">
                <a:solidFill>
                  <a:srgbClr val="F8FAFC"/>
                </a:solidFill>
                <a:latin typeface="Arial"/>
              </a:defRPr>
            </a:pPr>
            <a:r>
              <a:t>•  categories: id (UUID PK), name (Technical, Cultural, Sports, Workshop), color_hex.</a:t>
            </a:r>
          </a:p>
          <a:p>
            <a:pPr>
              <a:spcAft>
                <a:spcPts val="600"/>
              </a:spcAft>
              <a:defRPr sz="1000">
                <a:solidFill>
                  <a:srgbClr val="F8FAFC"/>
                </a:solidFill>
                <a:latin typeface="Arial"/>
              </a:defRPr>
            </a:pPr>
            <a:r>
              <a:t>•  Indexes: B-tree indexes on start_date, category_id, and organizer_id.</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Table: registrations &amp; saved_events</a:t>
            </a:r>
          </a:p>
        </p:txBody>
      </p:sp>
      <p:sp>
        <p:nvSpPr>
          <p:cNvPr id="15" name="TextBox 14"/>
          <p:cNvSpPr txBox="1"/>
          <p:nvPr/>
        </p:nvSpPr>
        <p:spPr>
          <a:xfrm>
            <a:off x="914400" y="475488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registrations: id (UUID PK), user_id (FK), event_id (FK), status (registered/waitlist), registered_at (TIMESTAMPTZ). Unique constraint on (user_id, event_id).</a:t>
            </a:r>
          </a:p>
          <a:p>
            <a:pPr>
              <a:spcAft>
                <a:spcPts val="600"/>
              </a:spcAft>
              <a:defRPr sz="1000">
                <a:solidFill>
                  <a:srgbClr val="F8FAFC"/>
                </a:solidFill>
                <a:latin typeface="Arial"/>
              </a:defRPr>
            </a:pPr>
            <a:r>
              <a:t>•  saved_events: id (UUID PK), user_id (FK), event_id (FK), saved_at. Enables quick personal bookmarking with cascade delete.</a:t>
            </a:r>
          </a:p>
          <a:p>
            <a:pPr>
              <a:spcAft>
                <a:spcPts val="600"/>
              </a:spcAft>
              <a:defRPr sz="1000">
                <a:solidFill>
                  <a:srgbClr val="F8FAFC"/>
                </a:solidFill>
                <a:latin typeface="Arial"/>
              </a:defRPr>
            </a:pPr>
            <a:r>
              <a:t>•  RLS Policy: Students can view and cancel their own registrations only.</a:t>
            </a:r>
          </a:p>
        </p:txBody>
      </p:sp>
      <p:sp>
        <p:nvSpPr>
          <p:cNvPr id="16" name="Rounded Rectangle 15"/>
          <p:cNvSpPr/>
          <p:nvPr/>
        </p:nvSpPr>
        <p:spPr>
          <a:xfrm>
            <a:off x="6217920" y="420624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Automated SQL Triggers &amp; Migrations</a:t>
            </a:r>
          </a:p>
        </p:txBody>
      </p:sp>
      <p:sp>
        <p:nvSpPr>
          <p:cNvPr id="18" name="TextBox 17"/>
          <p:cNvSpPr txBox="1"/>
          <p:nvPr/>
        </p:nvSpPr>
        <p:spPr>
          <a:xfrm>
            <a:off x="6400800" y="4754880"/>
            <a:ext cx="4846320" cy="1463040"/>
          </a:xfrm>
          <a:prstGeom prst="rect">
            <a:avLst/>
          </a:prstGeom>
          <a:noFill/>
        </p:spPr>
        <p:txBody>
          <a:bodyPr wrap="square" tIns="0" bIns="0" lIns="0" rIns="0">
            <a:spAutoFit/>
          </a:bodyPr>
          <a:lstStyle/>
          <a:p>
            <a:pPr>
              <a:spcAft>
                <a:spcPts val="600"/>
              </a:spcAft>
              <a:defRPr sz="1000">
                <a:solidFill>
                  <a:srgbClr val="F8FAFC"/>
                </a:solidFill>
                <a:latin typeface="Arial"/>
              </a:defRPr>
            </a:pPr>
            <a:r>
              <a:t>•  Migration 005 (Secure Profile Sync): Trigger on_auth_user_created automatically extracts auth metadata and populates the public.profiles record.</a:t>
            </a:r>
          </a:p>
          <a:p>
            <a:pPr>
              <a:spcAft>
                <a:spcPts val="600"/>
              </a:spcAft>
              <a:defRPr sz="1000">
                <a:solidFill>
                  <a:srgbClr val="F8FAFC"/>
                </a:solidFill>
                <a:latin typeface="Arial"/>
              </a:defRPr>
            </a:pPr>
            <a:r>
              <a:t>•  Migration 006 (Sign-In Tracking): Automated increment function updates sign_in_count and writes audit telemetry upon successful login.</a:t>
            </a:r>
          </a:p>
          <a:p>
            <a:pPr>
              <a:spcAft>
                <a:spcPts val="600"/>
              </a:spcAft>
              <a:defRPr sz="1000">
                <a:solidFill>
                  <a:srgbClr val="F8FAFC"/>
                </a:solidFill>
                <a:latin typeface="Arial"/>
              </a:defRPr>
            </a:pPr>
            <a:r>
              <a:t>•  Capacity Check Trigger: Prevents insert into registrations if count &gt;= max_capacity.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CODE IMPLEMENTATION</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15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Core Implementation Details &amp; Engineering Logic</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Examination of client-side state hooks, server validation schemas, and build system configuration.</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Client State &amp; Caching Architecture</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TanStack Query v5 hooks (useEvents, useRegistrations) encapsulate network caching.</a:t>
            </a:r>
          </a:p>
          <a:p>
            <a:pPr>
              <a:spcAft>
                <a:spcPts val="600"/>
              </a:spcAft>
              <a:defRPr sz="1000">
                <a:solidFill>
                  <a:srgbClr val="F8FAFC"/>
                </a:solidFill>
                <a:latin typeface="Arial"/>
              </a:defRPr>
            </a:pPr>
            <a:r>
              <a:t>•  Optimistic UI updates immediately reflect bookmarked events before network responses return.</a:t>
            </a:r>
          </a:p>
          <a:p>
            <a:pPr>
              <a:spcAft>
                <a:spcPts val="600"/>
              </a:spcAft>
              <a:defRPr sz="1000">
                <a:solidFill>
                  <a:srgbClr val="F8FAFC"/>
                </a:solidFill>
                <a:latin typeface="Arial"/>
              </a:defRPr>
            </a:pPr>
            <a:r>
              <a:t>•  Axios interceptors inject Supabase JWT Bearer headers automatically.</a:t>
            </a:r>
          </a:p>
          <a:p>
            <a:pPr>
              <a:spcAft>
                <a:spcPts val="600"/>
              </a:spcAft>
              <a:defRPr sz="1000">
                <a:solidFill>
                  <a:srgbClr val="F8FAFC"/>
                </a:solidFill>
                <a:latin typeface="Arial"/>
              </a:defRPr>
            </a:pPr>
            <a:r>
              <a:t>•  Graceful guest mode fallback allows calendar exploration without forced authentication.</a:t>
            </a:r>
          </a:p>
        </p:txBody>
      </p:sp>
      <p:sp>
        <p:nvSpPr>
          <p:cNvPr id="10" name="Rounded Rectangle 9"/>
          <p:cNvSpPr/>
          <p:nvPr/>
        </p:nvSpPr>
        <p:spPr>
          <a:xfrm>
            <a:off x="62179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Dual-Layer Zod Validation Engine</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Client Schema: Validates input fields synchronously, providing instant user error banners.</a:t>
            </a:r>
          </a:p>
          <a:p>
            <a:pPr>
              <a:spcAft>
                <a:spcPts val="600"/>
              </a:spcAft>
              <a:defRPr sz="1000">
                <a:solidFill>
                  <a:srgbClr val="F8FAFC"/>
                </a:solidFill>
                <a:latin typeface="Arial"/>
              </a:defRPr>
            </a:pPr>
            <a:r>
              <a:t>•  Server Schema: Express middleware validates incoming JSON request bodies against Zod schemas.</a:t>
            </a:r>
          </a:p>
          <a:p>
            <a:pPr>
              <a:spcAft>
                <a:spcPts val="600"/>
              </a:spcAft>
              <a:defRPr sz="1000">
                <a:solidFill>
                  <a:srgbClr val="F8FAFC"/>
                </a:solidFill>
                <a:latin typeface="Arial"/>
              </a:defRPr>
            </a:pPr>
            <a:r>
              <a:t>•  Strict Type Inference: TypeScript types are inferred directly from Zod schemas (z.infer&lt;typeof EventSchema&gt;).</a:t>
            </a:r>
          </a:p>
          <a:p>
            <a:pPr>
              <a:spcAft>
                <a:spcPts val="600"/>
              </a:spcAft>
              <a:defRPr sz="1000">
                <a:solidFill>
                  <a:srgbClr val="F8FAFC"/>
                </a:solidFill>
                <a:latin typeface="Arial"/>
              </a:defRPr>
            </a:pPr>
            <a:r>
              <a:t>•  Guarantees that no malformed payloads reach the database service layer.</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Strict Gmail Regex &amp; Token Flow</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Implemented symmetrically in mobile/utils/validators.ts and backend/src/utils/validators.ts.</a:t>
            </a:r>
          </a:p>
          <a:p>
            <a:pPr>
              <a:spcAft>
                <a:spcPts val="600"/>
              </a:spcAft>
              <a:defRPr sz="1000">
                <a:solidFill>
                  <a:srgbClr val="F8FAFC"/>
                </a:solidFill>
                <a:latin typeface="Arial"/>
              </a:defRPr>
            </a:pPr>
            <a:r>
              <a:t>•  Pattern: /^[a-z0-9](\.?[a-z0-9]){5,29}@gmail\.com$/i.</a:t>
            </a:r>
          </a:p>
          <a:p>
            <a:pPr>
              <a:spcAft>
                <a:spcPts val="600"/>
              </a:spcAft>
              <a:defRPr sz="1000">
                <a:solidFill>
                  <a:srgbClr val="F8FAFC"/>
                </a:solidFill>
                <a:latin typeface="Arial"/>
              </a:defRPr>
            </a:pPr>
            <a:r>
              <a:t>•  Deep link handler (campusevents://auth-callback) intercepts email confirmation callbacks.</a:t>
            </a:r>
          </a:p>
          <a:p>
            <a:pPr>
              <a:spcAft>
                <a:spcPts val="600"/>
              </a:spcAft>
              <a:defRPr sz="1000">
                <a:solidFill>
                  <a:srgbClr val="F8FAFC"/>
                </a:solidFill>
                <a:latin typeface="Arial"/>
              </a:defRPr>
            </a:pPr>
            <a:r>
              <a:t>•  SecureStore securely stores JWT refresh tokens on encrypted Android hardware.</a:t>
            </a:r>
          </a:p>
        </p:txBody>
      </p:sp>
      <p:sp>
        <p:nvSpPr>
          <p:cNvPr id="16" name="Rounded Rectangle 15"/>
          <p:cNvSpPr/>
          <p:nvPr/>
        </p:nvSpPr>
        <p:spPr>
          <a:xfrm>
            <a:off x="62179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Android Native Build Pipeline</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React Native New Architecture: TurboModules compiled with Android NDK and Clang.</a:t>
            </a:r>
          </a:p>
          <a:p>
            <a:pPr>
              <a:spcAft>
                <a:spcPts val="600"/>
              </a:spcAft>
              <a:defRPr sz="1000">
                <a:solidFill>
                  <a:srgbClr val="F8FAFC"/>
                </a:solidFill>
                <a:latin typeface="Arial"/>
              </a:defRPr>
            </a:pPr>
            <a:r>
              <a:t>•  CMake &amp; Ninja: Custom CMAKE_OBJECT_PATH_MAX=1024 configuration resolving Windows path limits.</a:t>
            </a:r>
          </a:p>
          <a:p>
            <a:pPr>
              <a:spcAft>
                <a:spcPts val="600"/>
              </a:spcAft>
              <a:defRPr sz="1000">
                <a:solidFill>
                  <a:srgbClr val="F8FAFC"/>
                </a:solidFill>
                <a:latin typeface="Arial"/>
              </a:defRPr>
            </a:pPr>
            <a:r>
              <a:t>•  apksigner tool: Cryptographically signs APK using SHA384withRSA and v2/v3 signature schemes.</a:t>
            </a:r>
          </a:p>
          <a:p>
            <a:pPr>
              <a:spcAft>
                <a:spcPts val="600"/>
              </a:spcAft>
              <a:defRPr sz="1000">
                <a:solidFill>
                  <a:srgbClr val="F8FAFC"/>
                </a:solidFill>
                <a:latin typeface="Arial"/>
              </a:defRPr>
            </a:pPr>
            <a:r>
              <a:t>•  Produces standalone 60.5 MB release binary ready for direct consumer installation.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SECURITY ARCHITECTURE</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16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Security Implementation &amp; Zero-Trust Architecture</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Multi-layered defense model protecting identity, API endpoints, database records, and mobile binaries.</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1. Identity &amp; Domain Verification</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Strict Gmail validation prevents burner and spoofed email registrations.</a:t>
            </a:r>
          </a:p>
          <a:p>
            <a:pPr>
              <a:spcAft>
                <a:spcPts val="600"/>
              </a:spcAft>
              <a:defRPr sz="1000">
                <a:solidFill>
                  <a:srgbClr val="F8FAFC"/>
                </a:solidFill>
                <a:latin typeface="Arial"/>
              </a:defRPr>
            </a:pPr>
            <a:r>
              <a:t>•  Two-factor email confirmation requirement ensures genuine mailbox ownership.</a:t>
            </a:r>
          </a:p>
          <a:p>
            <a:pPr>
              <a:spcAft>
                <a:spcPts val="600"/>
              </a:spcAft>
              <a:defRPr sz="1000">
                <a:solidFill>
                  <a:srgbClr val="F8FAFC"/>
                </a:solidFill>
                <a:latin typeface="Arial"/>
              </a:defRPr>
            </a:pPr>
            <a:r>
              <a:t>•  Unconfirmed accounts are strictly restricted from registering or publishing.</a:t>
            </a:r>
          </a:p>
          <a:p>
            <a:pPr>
              <a:spcAft>
                <a:spcPts val="600"/>
              </a:spcAft>
              <a:defRPr sz="1000">
                <a:solidFill>
                  <a:srgbClr val="F8FAFC"/>
                </a:solidFill>
                <a:latin typeface="Arial"/>
              </a:defRPr>
            </a:pPr>
            <a:r>
              <a:t>•  SecureStore ensures authentication tokens cannot be extracted from device storage.</a:t>
            </a:r>
          </a:p>
        </p:txBody>
      </p:sp>
      <p:sp>
        <p:nvSpPr>
          <p:cNvPr id="10" name="Rounded Rectangle 9"/>
          <p:cNvSpPr/>
          <p:nvPr/>
        </p:nvSpPr>
        <p:spPr>
          <a:xfrm>
            <a:off x="6217920" y="182880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2. Database Row Level Security (RLS)</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PostgreSQL RLS policies enabled across all production tables.</a:t>
            </a:r>
          </a:p>
          <a:p>
            <a:pPr>
              <a:spcAft>
                <a:spcPts val="600"/>
              </a:spcAft>
              <a:defRPr sz="1000">
                <a:solidFill>
                  <a:srgbClr val="F8FAFC"/>
                </a:solidFill>
                <a:latin typeface="Arial"/>
              </a:defRPr>
            </a:pPr>
            <a:r>
              <a:t>•  Multi-tenant isolation: Users cannot view or modify other students' private registrations.</a:t>
            </a:r>
          </a:p>
          <a:p>
            <a:pPr>
              <a:spcAft>
                <a:spcPts val="600"/>
              </a:spcAft>
              <a:defRPr sz="1000">
                <a:solidFill>
                  <a:srgbClr val="F8FAFC"/>
                </a:solidFill>
                <a:latin typeface="Arial"/>
              </a:defRPr>
            </a:pPr>
            <a:r>
              <a:t>•  Organizers can only edit events where auth.uid() == organizer_id.</a:t>
            </a:r>
          </a:p>
          <a:p>
            <a:pPr>
              <a:spcAft>
                <a:spcPts val="600"/>
              </a:spcAft>
              <a:defRPr sz="1000">
                <a:solidFill>
                  <a:srgbClr val="F8FAFC"/>
                </a:solidFill>
                <a:latin typeface="Arial"/>
              </a:defRPr>
            </a:pPr>
            <a:r>
              <a:t>•  Eliminates reliance on application-layer filtering for data privacy.</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3. API Gateway &amp; Transport Security</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Enforces HTTPS / TLS encryption on all mobile-to-cloud communications.</a:t>
            </a:r>
          </a:p>
          <a:p>
            <a:pPr>
              <a:spcAft>
                <a:spcPts val="600"/>
              </a:spcAft>
              <a:defRPr sz="1000">
                <a:solidFill>
                  <a:srgbClr val="F8FAFC"/>
                </a:solidFill>
                <a:latin typeface="Arial"/>
              </a:defRPr>
            </a:pPr>
            <a:r>
              <a:t>•  Express Rate Limiter prevents automated credential stuffing and endpoint flooding.</a:t>
            </a:r>
          </a:p>
          <a:p>
            <a:pPr>
              <a:spcAft>
                <a:spcPts val="600"/>
              </a:spcAft>
              <a:defRPr sz="1000">
                <a:solidFill>
                  <a:srgbClr val="F8FAFC"/>
                </a:solidFill>
                <a:latin typeface="Arial"/>
              </a:defRPr>
            </a:pPr>
            <a:r>
              <a:t>•  All environment secrets (SUPABASE_SERVICE_ROLE, JWT_SECRET) isolated in server .env.</a:t>
            </a:r>
          </a:p>
          <a:p>
            <a:pPr>
              <a:spcAft>
                <a:spcPts val="600"/>
              </a:spcAft>
              <a:defRPr sz="1000">
                <a:solidFill>
                  <a:srgbClr val="F8FAFC"/>
                </a:solidFill>
                <a:latin typeface="Arial"/>
              </a:defRPr>
            </a:pPr>
            <a:r>
              <a:t>•  CORS configured strictly to allow authorized web portals and mobile origins.</a:t>
            </a:r>
          </a:p>
        </p:txBody>
      </p:sp>
      <p:sp>
        <p:nvSpPr>
          <p:cNvPr id="16" name="Rounded Rectangle 15"/>
          <p:cNvSpPr/>
          <p:nvPr/>
        </p:nvSpPr>
        <p:spPr>
          <a:xfrm>
            <a:off x="6217920" y="420624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4. Cryptographic Binary Signing</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APK signed with dedicated 2048-bit RSA release keystore (CN=CampusEvents, OU=AkDevos).</a:t>
            </a:r>
          </a:p>
          <a:p>
            <a:pPr>
              <a:spcAft>
                <a:spcPts val="600"/>
              </a:spcAft>
              <a:defRPr sz="1000">
                <a:solidFill>
                  <a:srgbClr val="F8FAFC"/>
                </a:solidFill>
                <a:latin typeface="Arial"/>
              </a:defRPr>
            </a:pPr>
            <a:r>
              <a:t>•  Signed using APK Signature Schemes v2 (whole-file hash) and v3 (key rotation proof).</a:t>
            </a:r>
          </a:p>
          <a:p>
            <a:pPr>
              <a:spcAft>
                <a:spcPts val="600"/>
              </a:spcAft>
              <a:defRPr sz="1000">
                <a:solidFill>
                  <a:srgbClr val="F8FAFC"/>
                </a:solidFill>
                <a:latin typeface="Arial"/>
              </a:defRPr>
            </a:pPr>
            <a:r>
              <a:t>•  SHA-256 binary hash published on web portal to enable checksum verification.</a:t>
            </a:r>
          </a:p>
          <a:p>
            <a:pPr>
              <a:spcAft>
                <a:spcPts val="600"/>
              </a:spcAft>
              <a:defRPr sz="1000">
                <a:solidFill>
                  <a:srgbClr val="F8FAFC"/>
                </a:solidFill>
                <a:latin typeface="Arial"/>
              </a:defRPr>
            </a:pPr>
            <a:r>
              <a:t>•  Protects users against APK tampering and man-in-the-middle package modification.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QUALITY ASSURANCE</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17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Testing Strategy &amp; Verification Results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Systematic test execution matrix across functional, security, build, and integration test cases.</a:t>
            </a:r>
          </a:p>
        </p:txBody>
      </p:sp>
      <p:graphicFrame>
        <p:nvGraphicFramePr>
          <p:cNvPr id="7" name="Table 6"/>
          <p:cNvGraphicFramePr>
            <a:graphicFrameLocks noGrp="1"/>
          </p:cNvGraphicFramePr>
          <p:nvPr/>
        </p:nvGraphicFramePr>
        <p:xfrm>
          <a:off x="731520" y="1828800"/>
          <a:ext cx="10725912" cy="4480560"/>
        </p:xfrm>
        <a:graphic>
          <a:graphicData uri="http://schemas.openxmlformats.org/drawingml/2006/table">
            <a:tbl>
              <a:tblPr firstRow="1" bandRow="1">
                <a:tableStyleId>{5C22544A-7EE6-4342-B048-85BDC9FD1C3A}</a:tableStyleId>
              </a:tblPr>
              <a:tblGrid>
                <a:gridCol w="1188720"/>
                <a:gridCol w="3291840"/>
                <a:gridCol w="2926080"/>
                <a:gridCol w="2377440"/>
                <a:gridCol w="941832"/>
              </a:tblGrid>
              <a:tr h="497840">
                <a:tc>
                  <a:txBody>
                    <a:bodyPr/>
                    <a:lstStyle/>
                    <a:p>
                      <a:pPr>
                        <a:defRPr sz="900" b="1">
                          <a:solidFill>
                            <a:srgbClr val="1DCD9F"/>
                          </a:solidFill>
                          <a:latin typeface="Arial"/>
                        </a:defRPr>
                      </a:pPr>
                      <a:r>
                        <a:t>Test Case ID</a:t>
                      </a:r>
                    </a:p>
                  </a:txBody>
                  <a:tcPr>
                    <a:solidFill>
                      <a:srgbClr val="0F172A"/>
                    </a:solidFill>
                  </a:tcPr>
                </a:tc>
                <a:tc>
                  <a:txBody>
                    <a:bodyPr/>
                    <a:lstStyle/>
                    <a:p>
                      <a:pPr>
                        <a:defRPr sz="900" b="1">
                          <a:solidFill>
                            <a:srgbClr val="1DCD9F"/>
                          </a:solidFill>
                          <a:latin typeface="Arial"/>
                        </a:defRPr>
                      </a:pPr>
                      <a:r>
                        <a:t>Test Scenario / Input</a:t>
                      </a:r>
                    </a:p>
                  </a:txBody>
                  <a:tcPr>
                    <a:solidFill>
                      <a:srgbClr val="0F172A"/>
                    </a:solidFill>
                  </a:tcPr>
                </a:tc>
                <a:tc>
                  <a:txBody>
                    <a:bodyPr/>
                    <a:lstStyle/>
                    <a:p>
                      <a:pPr>
                        <a:defRPr sz="900" b="1">
                          <a:solidFill>
                            <a:srgbClr val="1DCD9F"/>
                          </a:solidFill>
                          <a:latin typeface="Arial"/>
                        </a:defRPr>
                      </a:pPr>
                      <a:r>
                        <a:t>Expected Result</a:t>
                      </a:r>
                    </a:p>
                  </a:txBody>
                  <a:tcPr>
                    <a:solidFill>
                      <a:srgbClr val="0F172A"/>
                    </a:solidFill>
                  </a:tcPr>
                </a:tc>
                <a:tc>
                  <a:txBody>
                    <a:bodyPr/>
                    <a:lstStyle/>
                    <a:p>
                      <a:pPr>
                        <a:defRPr sz="900" b="1">
                          <a:solidFill>
                            <a:srgbClr val="1DCD9F"/>
                          </a:solidFill>
                          <a:latin typeface="Arial"/>
                        </a:defRPr>
                      </a:pPr>
                      <a:r>
                        <a:t>Actual Result</a:t>
                      </a:r>
                    </a:p>
                  </a:txBody>
                  <a:tcPr>
                    <a:solidFill>
                      <a:srgbClr val="0F172A"/>
                    </a:solidFill>
                  </a:tcPr>
                </a:tc>
                <a:tc>
                  <a:txBody>
                    <a:bodyPr/>
                    <a:lstStyle/>
                    <a:p>
                      <a:pPr>
                        <a:defRPr sz="900" b="1">
                          <a:solidFill>
                            <a:srgbClr val="1DCD9F"/>
                          </a:solidFill>
                          <a:latin typeface="Arial"/>
                        </a:defRPr>
                      </a:pPr>
                      <a:r>
                        <a:t>Status</a:t>
                      </a:r>
                    </a:p>
                  </a:txBody>
                  <a:tcPr>
                    <a:solidFill>
                      <a:srgbClr val="0F172A"/>
                    </a:solidFill>
                  </a:tcPr>
                </a:tc>
              </a:tr>
              <a:tr h="497840">
                <a:tc>
                  <a:txBody>
                    <a:bodyPr/>
                    <a:lstStyle/>
                    <a:p>
                      <a:pPr>
                        <a:defRPr sz="900">
                          <a:solidFill>
                            <a:srgbClr val="F8FAFC"/>
                          </a:solidFill>
                          <a:latin typeface="Arial"/>
                        </a:defRPr>
                      </a:pPr>
                      <a:r>
                        <a:t>TC-AUTH-01</a:t>
                      </a:r>
                    </a:p>
                  </a:txBody>
                  <a:tcPr>
                    <a:solidFill>
                      <a:srgbClr val="12192A"/>
                    </a:solidFill>
                  </a:tcPr>
                </a:tc>
                <a:tc>
                  <a:txBody>
                    <a:bodyPr/>
                    <a:lstStyle/>
                    <a:p>
                      <a:pPr>
                        <a:defRPr sz="900">
                          <a:solidFill>
                            <a:srgbClr val="94A3B8"/>
                          </a:solidFill>
                          <a:latin typeface="Arial"/>
                        </a:defRPr>
                      </a:pPr>
                      <a:r>
                        <a:t>Signup with invalid..user@gmail.com (consecutive dots)</a:t>
                      </a:r>
                    </a:p>
                  </a:txBody>
                  <a:tcPr>
                    <a:solidFill>
                      <a:srgbClr val="12192A"/>
                    </a:solidFill>
                  </a:tcPr>
                </a:tc>
                <a:tc>
                  <a:txBody>
                    <a:bodyPr/>
                    <a:lstStyle/>
                    <a:p>
                      <a:pPr>
                        <a:defRPr sz="900">
                          <a:solidFill>
                            <a:srgbClr val="94A3B8"/>
                          </a:solidFill>
                          <a:latin typeface="Arial"/>
                        </a:defRPr>
                      </a:pPr>
                      <a:r>
                        <a:t>Reject with format error banner</a:t>
                      </a:r>
                    </a:p>
                  </a:txBody>
                  <a:tcPr>
                    <a:solidFill>
                      <a:srgbClr val="12192A"/>
                    </a:solidFill>
                  </a:tcPr>
                </a:tc>
                <a:tc>
                  <a:txBody>
                    <a:bodyPr/>
                    <a:lstStyle/>
                    <a:p>
                      <a:pPr>
                        <a:defRPr sz="900">
                          <a:solidFill>
                            <a:srgbClr val="94A3B8"/>
                          </a:solidFill>
                          <a:latin typeface="Arial"/>
                        </a:defRPr>
                      </a:pPr>
                      <a:r>
                        <a:t>Rejected; banner displayed</a:t>
                      </a:r>
                    </a:p>
                  </a:txBody>
                  <a:tcPr>
                    <a:solidFill>
                      <a:srgbClr val="12192A"/>
                    </a:solidFill>
                  </a:tcPr>
                </a:tc>
                <a:tc>
                  <a:txBody>
                    <a:bodyPr/>
                    <a:lstStyle/>
                    <a:p>
                      <a:pPr>
                        <a:defRPr sz="900" b="1">
                          <a:solidFill>
                            <a:srgbClr val="10B981"/>
                          </a:solidFill>
                          <a:latin typeface="Arial"/>
                        </a:defRPr>
                      </a:pPr>
                      <a:r>
                        <a:t>PASSED</a:t>
                      </a:r>
                    </a:p>
                  </a:txBody>
                  <a:tcPr>
                    <a:solidFill>
                      <a:srgbClr val="12192A"/>
                    </a:solidFill>
                  </a:tcPr>
                </a:tc>
              </a:tr>
              <a:tr h="497840">
                <a:tc>
                  <a:txBody>
                    <a:bodyPr/>
                    <a:lstStyle/>
                    <a:p>
                      <a:pPr>
                        <a:defRPr sz="900">
                          <a:solidFill>
                            <a:srgbClr val="F8FAFC"/>
                          </a:solidFill>
                          <a:latin typeface="Arial"/>
                        </a:defRPr>
                      </a:pPr>
                      <a:r>
                        <a:t>TC-AUTH-02</a:t>
                      </a:r>
                    </a:p>
                  </a:txBody>
                  <a:tcPr>
                    <a:solidFill>
                      <a:srgbClr val="182136"/>
                    </a:solidFill>
                  </a:tcPr>
                </a:tc>
                <a:tc>
                  <a:txBody>
                    <a:bodyPr/>
                    <a:lstStyle/>
                    <a:p>
                      <a:pPr>
                        <a:defRPr sz="900">
                          <a:solidFill>
                            <a:srgbClr val="94A3B8"/>
                          </a:solidFill>
                          <a:latin typeface="Arial"/>
                        </a:defRPr>
                      </a:pPr>
                      <a:r>
                        <a:t>Signup with valid student.ak@gmail.com</a:t>
                      </a:r>
                    </a:p>
                  </a:txBody>
                  <a:tcPr>
                    <a:solidFill>
                      <a:srgbClr val="182136"/>
                    </a:solidFill>
                  </a:tcPr>
                </a:tc>
                <a:tc>
                  <a:txBody>
                    <a:bodyPr/>
                    <a:lstStyle/>
                    <a:p>
                      <a:pPr>
                        <a:defRPr sz="900">
                          <a:solidFill>
                            <a:srgbClr val="94A3B8"/>
                          </a:solidFill>
                          <a:latin typeface="Arial"/>
                        </a:defRPr>
                      </a:pPr>
                      <a:r>
                        <a:t>User created; confirmation email dispatched</a:t>
                      </a:r>
                    </a:p>
                  </a:txBody>
                  <a:tcPr>
                    <a:solidFill>
                      <a:srgbClr val="182136"/>
                    </a:solidFill>
                  </a:tcPr>
                </a:tc>
                <a:tc>
                  <a:txBody>
                    <a:bodyPr/>
                    <a:lstStyle/>
                    <a:p>
                      <a:pPr>
                        <a:defRPr sz="900">
                          <a:solidFill>
                            <a:srgbClr val="94A3B8"/>
                          </a:solidFill>
                          <a:latin typeface="Arial"/>
                        </a:defRPr>
                      </a:pPr>
                      <a:r>
                        <a:t>Email dispatched; confirmed_at null</a:t>
                      </a:r>
                    </a:p>
                  </a:txBody>
                  <a:tcPr>
                    <a:solidFill>
                      <a:srgbClr val="182136"/>
                    </a:solidFill>
                  </a:tcPr>
                </a:tc>
                <a:tc>
                  <a:txBody>
                    <a:bodyPr/>
                    <a:lstStyle/>
                    <a:p>
                      <a:pPr>
                        <a:defRPr sz="900" b="1">
                          <a:solidFill>
                            <a:srgbClr val="10B981"/>
                          </a:solidFill>
                          <a:latin typeface="Arial"/>
                        </a:defRPr>
                      </a:pPr>
                      <a:r>
                        <a:t>PASSED</a:t>
                      </a:r>
                    </a:p>
                  </a:txBody>
                  <a:tcPr>
                    <a:solidFill>
                      <a:srgbClr val="182136"/>
                    </a:solidFill>
                  </a:tcPr>
                </a:tc>
              </a:tr>
              <a:tr h="497840">
                <a:tc>
                  <a:txBody>
                    <a:bodyPr/>
                    <a:lstStyle/>
                    <a:p>
                      <a:pPr>
                        <a:defRPr sz="900">
                          <a:solidFill>
                            <a:srgbClr val="F8FAFC"/>
                          </a:solidFill>
                          <a:latin typeface="Arial"/>
                        </a:defRPr>
                      </a:pPr>
                      <a:r>
                        <a:t>TC-AUTH-03</a:t>
                      </a:r>
                    </a:p>
                  </a:txBody>
                  <a:tcPr>
                    <a:solidFill>
                      <a:srgbClr val="12192A"/>
                    </a:solidFill>
                  </a:tcPr>
                </a:tc>
                <a:tc>
                  <a:txBody>
                    <a:bodyPr/>
                    <a:lstStyle/>
                    <a:p>
                      <a:pPr>
                        <a:defRPr sz="900">
                          <a:solidFill>
                            <a:srgbClr val="94A3B8"/>
                          </a:solidFill>
                          <a:latin typeface="Arial"/>
                        </a:defRPr>
                      </a:pPr>
                      <a:r>
                        <a:t>Login with unconfirmed Gmail account</a:t>
                      </a:r>
                    </a:p>
                  </a:txBody>
                  <a:tcPr>
                    <a:solidFill>
                      <a:srgbClr val="12192A"/>
                    </a:solidFill>
                  </a:tcPr>
                </a:tc>
                <a:tc>
                  <a:txBody>
                    <a:bodyPr/>
                    <a:lstStyle/>
                    <a:p>
                      <a:pPr>
                        <a:defRPr sz="900">
                          <a:solidFill>
                            <a:srgbClr val="94A3B8"/>
                          </a:solidFill>
                          <a:latin typeface="Arial"/>
                        </a:defRPr>
                      </a:pPr>
                      <a:r>
                        <a:t>Display 'Check Your Gmail' resend banner</a:t>
                      </a:r>
                    </a:p>
                  </a:txBody>
                  <a:tcPr>
                    <a:solidFill>
                      <a:srgbClr val="12192A"/>
                    </a:solidFill>
                  </a:tcPr>
                </a:tc>
                <a:tc>
                  <a:txBody>
                    <a:bodyPr/>
                    <a:lstStyle/>
                    <a:p>
                      <a:pPr>
                        <a:defRPr sz="900">
                          <a:solidFill>
                            <a:srgbClr val="94A3B8"/>
                          </a:solidFill>
                          <a:latin typeface="Arial"/>
                        </a:defRPr>
                      </a:pPr>
                      <a:r>
                        <a:t>Amber alert shown with resend action</a:t>
                      </a:r>
                    </a:p>
                  </a:txBody>
                  <a:tcPr>
                    <a:solidFill>
                      <a:srgbClr val="12192A"/>
                    </a:solidFill>
                  </a:tcPr>
                </a:tc>
                <a:tc>
                  <a:txBody>
                    <a:bodyPr/>
                    <a:lstStyle/>
                    <a:p>
                      <a:pPr>
                        <a:defRPr sz="900" b="1">
                          <a:solidFill>
                            <a:srgbClr val="10B981"/>
                          </a:solidFill>
                          <a:latin typeface="Arial"/>
                        </a:defRPr>
                      </a:pPr>
                      <a:r>
                        <a:t>PASSED</a:t>
                      </a:r>
                    </a:p>
                  </a:txBody>
                  <a:tcPr>
                    <a:solidFill>
                      <a:srgbClr val="12192A"/>
                    </a:solidFill>
                  </a:tcPr>
                </a:tc>
              </a:tr>
              <a:tr h="497840">
                <a:tc>
                  <a:txBody>
                    <a:bodyPr/>
                    <a:lstStyle/>
                    <a:p>
                      <a:pPr>
                        <a:defRPr sz="900">
                          <a:solidFill>
                            <a:srgbClr val="F8FAFC"/>
                          </a:solidFill>
                          <a:latin typeface="Arial"/>
                        </a:defRPr>
                      </a:pPr>
                      <a:r>
                        <a:t>TC-LOG-01</a:t>
                      </a:r>
                    </a:p>
                  </a:txBody>
                  <a:tcPr>
                    <a:solidFill>
                      <a:srgbClr val="182136"/>
                    </a:solidFill>
                  </a:tcPr>
                </a:tc>
                <a:tc>
                  <a:txBody>
                    <a:bodyPr/>
                    <a:lstStyle/>
                    <a:p>
                      <a:pPr>
                        <a:defRPr sz="900">
                          <a:solidFill>
                            <a:srgbClr val="94A3B8"/>
                          </a:solidFill>
                          <a:latin typeface="Arial"/>
                        </a:defRPr>
                      </a:pPr>
                      <a:r>
                        <a:t>Successful login with valid credentials</a:t>
                      </a:r>
                    </a:p>
                  </a:txBody>
                  <a:tcPr>
                    <a:solidFill>
                      <a:srgbClr val="182136"/>
                    </a:solidFill>
                  </a:tcPr>
                </a:tc>
                <a:tc>
                  <a:txBody>
                    <a:bodyPr/>
                    <a:lstStyle/>
                    <a:p>
                      <a:pPr>
                        <a:defRPr sz="900">
                          <a:solidFill>
                            <a:srgbClr val="94A3B8"/>
                          </a:solidFill>
                          <a:latin typeface="Arial"/>
                        </a:defRPr>
                      </a:pPr>
                      <a:r>
                        <a:t>Record inserted into sign_in_logs with IP</a:t>
                      </a:r>
                    </a:p>
                  </a:txBody>
                  <a:tcPr>
                    <a:solidFill>
                      <a:srgbClr val="182136"/>
                    </a:solidFill>
                  </a:tcPr>
                </a:tc>
                <a:tc>
                  <a:txBody>
                    <a:bodyPr/>
                    <a:lstStyle/>
                    <a:p>
                      <a:pPr>
                        <a:defRPr sz="900">
                          <a:solidFill>
                            <a:srgbClr val="94A3B8"/>
                          </a:solidFill>
                          <a:latin typeface="Arial"/>
                        </a:defRPr>
                      </a:pPr>
                      <a:r>
                        <a:t>Record written; sign_in_count incremented</a:t>
                      </a:r>
                    </a:p>
                  </a:txBody>
                  <a:tcPr>
                    <a:solidFill>
                      <a:srgbClr val="182136"/>
                    </a:solidFill>
                  </a:tcPr>
                </a:tc>
                <a:tc>
                  <a:txBody>
                    <a:bodyPr/>
                    <a:lstStyle/>
                    <a:p>
                      <a:pPr>
                        <a:defRPr sz="900" b="1">
                          <a:solidFill>
                            <a:srgbClr val="10B981"/>
                          </a:solidFill>
                          <a:latin typeface="Arial"/>
                        </a:defRPr>
                      </a:pPr>
                      <a:r>
                        <a:t>PASSED</a:t>
                      </a:r>
                    </a:p>
                  </a:txBody>
                  <a:tcPr>
                    <a:solidFill>
                      <a:srgbClr val="182136"/>
                    </a:solidFill>
                  </a:tcPr>
                </a:tc>
              </a:tr>
              <a:tr h="497840">
                <a:tc>
                  <a:txBody>
                    <a:bodyPr/>
                    <a:lstStyle/>
                    <a:p>
                      <a:pPr>
                        <a:defRPr sz="900">
                          <a:solidFill>
                            <a:srgbClr val="F8FAFC"/>
                          </a:solidFill>
                          <a:latin typeface="Arial"/>
                        </a:defRPr>
                      </a:pPr>
                      <a:r>
                        <a:t>TC-RLS-01</a:t>
                      </a:r>
                    </a:p>
                  </a:txBody>
                  <a:tcPr>
                    <a:solidFill>
                      <a:srgbClr val="12192A"/>
                    </a:solidFill>
                  </a:tcPr>
                </a:tc>
                <a:tc>
                  <a:txBody>
                    <a:bodyPr/>
                    <a:lstStyle/>
                    <a:p>
                      <a:pPr>
                        <a:defRPr sz="900">
                          <a:solidFill>
                            <a:srgbClr val="94A3B8"/>
                          </a:solidFill>
                          <a:latin typeface="Arial"/>
                        </a:defRPr>
                      </a:pPr>
                      <a:r>
                        <a:t>User A attempts DELETE on User B's registration</a:t>
                      </a:r>
                    </a:p>
                  </a:txBody>
                  <a:tcPr>
                    <a:solidFill>
                      <a:srgbClr val="12192A"/>
                    </a:solidFill>
                  </a:tcPr>
                </a:tc>
                <a:tc>
                  <a:txBody>
                    <a:bodyPr/>
                    <a:lstStyle/>
                    <a:p>
                      <a:pPr>
                        <a:defRPr sz="900">
                          <a:solidFill>
                            <a:srgbClr val="94A3B8"/>
                          </a:solidFill>
                          <a:latin typeface="Arial"/>
                        </a:defRPr>
                      </a:pPr>
                      <a:r>
                        <a:t>PostgreSQL RLS blocks operation (403)</a:t>
                      </a:r>
                    </a:p>
                  </a:txBody>
                  <a:tcPr>
                    <a:solidFill>
                      <a:srgbClr val="12192A"/>
                    </a:solidFill>
                  </a:tcPr>
                </a:tc>
                <a:tc>
                  <a:txBody>
                    <a:bodyPr/>
                    <a:lstStyle/>
                    <a:p>
                      <a:pPr>
                        <a:defRPr sz="900">
                          <a:solidFill>
                            <a:srgbClr val="94A3B8"/>
                          </a:solidFill>
                          <a:latin typeface="Arial"/>
                        </a:defRPr>
                      </a:pPr>
                      <a:r>
                        <a:t>0 rows affected; permission denied</a:t>
                      </a:r>
                    </a:p>
                  </a:txBody>
                  <a:tcPr>
                    <a:solidFill>
                      <a:srgbClr val="12192A"/>
                    </a:solidFill>
                  </a:tcPr>
                </a:tc>
                <a:tc>
                  <a:txBody>
                    <a:bodyPr/>
                    <a:lstStyle/>
                    <a:p>
                      <a:pPr>
                        <a:defRPr sz="900" b="1">
                          <a:solidFill>
                            <a:srgbClr val="10B981"/>
                          </a:solidFill>
                          <a:latin typeface="Arial"/>
                        </a:defRPr>
                      </a:pPr>
                      <a:r>
                        <a:t>PASSED</a:t>
                      </a:r>
                    </a:p>
                  </a:txBody>
                  <a:tcPr>
                    <a:solidFill>
                      <a:srgbClr val="12192A"/>
                    </a:solidFill>
                  </a:tcPr>
                </a:tc>
              </a:tr>
              <a:tr h="497840">
                <a:tc>
                  <a:txBody>
                    <a:bodyPr/>
                    <a:lstStyle/>
                    <a:p>
                      <a:pPr>
                        <a:defRPr sz="900">
                          <a:solidFill>
                            <a:srgbClr val="F8FAFC"/>
                          </a:solidFill>
                          <a:latin typeface="Arial"/>
                        </a:defRPr>
                      </a:pPr>
                      <a:r>
                        <a:t>TC-CAP-01</a:t>
                      </a:r>
                    </a:p>
                  </a:txBody>
                  <a:tcPr>
                    <a:solidFill>
                      <a:srgbClr val="182136"/>
                    </a:solidFill>
                  </a:tcPr>
                </a:tc>
                <a:tc>
                  <a:txBody>
                    <a:bodyPr/>
                    <a:lstStyle/>
                    <a:p>
                      <a:pPr>
                        <a:defRPr sz="900">
                          <a:solidFill>
                            <a:srgbClr val="94A3B8"/>
                          </a:solidFill>
                          <a:latin typeface="Arial"/>
                        </a:defRPr>
                      </a:pPr>
                      <a:r>
                        <a:t>Register for event when registered_count &gt;= max</a:t>
                      </a:r>
                    </a:p>
                  </a:txBody>
                  <a:tcPr>
                    <a:solidFill>
                      <a:srgbClr val="182136"/>
                    </a:solidFill>
                  </a:tcPr>
                </a:tc>
                <a:tc>
                  <a:txBody>
                    <a:bodyPr/>
                    <a:lstStyle/>
                    <a:p>
                      <a:pPr>
                        <a:defRPr sz="900">
                          <a:solidFill>
                            <a:srgbClr val="94A3B8"/>
                          </a:solidFill>
                          <a:latin typeface="Arial"/>
                        </a:defRPr>
                      </a:pPr>
                      <a:r>
                        <a:t>Transaction rejected with capacity error</a:t>
                      </a:r>
                    </a:p>
                  </a:txBody>
                  <a:tcPr>
                    <a:solidFill>
                      <a:srgbClr val="182136"/>
                    </a:solidFill>
                  </a:tcPr>
                </a:tc>
                <a:tc>
                  <a:txBody>
                    <a:bodyPr/>
                    <a:lstStyle/>
                    <a:p>
                      <a:pPr>
                        <a:defRPr sz="900">
                          <a:solidFill>
                            <a:srgbClr val="94A3B8"/>
                          </a:solidFill>
                          <a:latin typeface="Arial"/>
                        </a:defRPr>
                      </a:pPr>
                      <a:r>
                        <a:t>Blocked; alert 'Event is at full capacity'</a:t>
                      </a:r>
                    </a:p>
                  </a:txBody>
                  <a:tcPr>
                    <a:solidFill>
                      <a:srgbClr val="182136"/>
                    </a:solidFill>
                  </a:tcPr>
                </a:tc>
                <a:tc>
                  <a:txBody>
                    <a:bodyPr/>
                    <a:lstStyle/>
                    <a:p>
                      <a:pPr>
                        <a:defRPr sz="900" b="1">
                          <a:solidFill>
                            <a:srgbClr val="10B981"/>
                          </a:solidFill>
                          <a:latin typeface="Arial"/>
                        </a:defRPr>
                      </a:pPr>
                      <a:r>
                        <a:t>PASSED</a:t>
                      </a:r>
                    </a:p>
                  </a:txBody>
                  <a:tcPr>
                    <a:solidFill>
                      <a:srgbClr val="182136"/>
                    </a:solidFill>
                  </a:tcPr>
                </a:tc>
              </a:tr>
              <a:tr h="497840">
                <a:tc>
                  <a:txBody>
                    <a:bodyPr/>
                    <a:lstStyle/>
                    <a:p>
                      <a:pPr>
                        <a:defRPr sz="900">
                          <a:solidFill>
                            <a:srgbClr val="F8FAFC"/>
                          </a:solidFill>
                          <a:latin typeface="Arial"/>
                        </a:defRPr>
                      </a:pPr>
                      <a:r>
                        <a:t>TC-APK-01</a:t>
                      </a:r>
                    </a:p>
                  </a:txBody>
                  <a:tcPr>
                    <a:solidFill>
                      <a:srgbClr val="12192A"/>
                    </a:solidFill>
                  </a:tcPr>
                </a:tc>
                <a:tc>
                  <a:txBody>
                    <a:bodyPr/>
                    <a:lstStyle/>
                    <a:p>
                      <a:pPr>
                        <a:defRPr sz="900">
                          <a:solidFill>
                            <a:srgbClr val="94A3B8"/>
                          </a:solidFill>
                          <a:latin typeface="Arial"/>
                        </a:defRPr>
                      </a:pPr>
                      <a:r>
                        <a:t>Install release APK on physical Android 14 device</a:t>
                      </a:r>
                    </a:p>
                  </a:txBody>
                  <a:tcPr>
                    <a:solidFill>
                      <a:srgbClr val="12192A"/>
                    </a:solidFill>
                  </a:tcPr>
                </a:tc>
                <a:tc>
                  <a:txBody>
                    <a:bodyPr/>
                    <a:lstStyle/>
                    <a:p>
                      <a:pPr>
                        <a:defRPr sz="900">
                          <a:solidFill>
                            <a:srgbClr val="94A3B8"/>
                          </a:solidFill>
                          <a:latin typeface="Arial"/>
                        </a:defRPr>
                      </a:pPr>
                      <a:r>
                        <a:t>Clean install without 'Something went wrong'</a:t>
                      </a:r>
                    </a:p>
                  </a:txBody>
                  <a:tcPr>
                    <a:solidFill>
                      <a:srgbClr val="12192A"/>
                    </a:solidFill>
                  </a:tcPr>
                </a:tc>
                <a:tc>
                  <a:txBody>
                    <a:bodyPr/>
                    <a:lstStyle/>
                    <a:p>
                      <a:pPr>
                        <a:defRPr sz="900">
                          <a:solidFill>
                            <a:srgbClr val="94A3B8"/>
                          </a:solidFill>
                          <a:latin typeface="Arial"/>
                        </a:defRPr>
                      </a:pPr>
                      <a:r>
                        <a:t>Installed successfully with v2/v3 sign</a:t>
                      </a:r>
                    </a:p>
                  </a:txBody>
                  <a:tcPr>
                    <a:solidFill>
                      <a:srgbClr val="12192A"/>
                    </a:solidFill>
                  </a:tcPr>
                </a:tc>
                <a:tc>
                  <a:txBody>
                    <a:bodyPr/>
                    <a:lstStyle/>
                    <a:p>
                      <a:pPr>
                        <a:defRPr sz="900" b="1">
                          <a:solidFill>
                            <a:srgbClr val="10B981"/>
                          </a:solidFill>
                          <a:latin typeface="Arial"/>
                        </a:defRPr>
                      </a:pPr>
                      <a:r>
                        <a:t>PASSED</a:t>
                      </a:r>
                    </a:p>
                  </a:txBody>
                  <a:tcPr>
                    <a:solidFill>
                      <a:srgbClr val="12192A"/>
                    </a:solidFill>
                  </a:tcPr>
                </a:tc>
              </a:tr>
              <a:tr h="497840">
                <a:tc>
                  <a:txBody>
                    <a:bodyPr/>
                    <a:lstStyle/>
                    <a:p>
                      <a:pPr>
                        <a:defRPr sz="900">
                          <a:solidFill>
                            <a:srgbClr val="F8FAFC"/>
                          </a:solidFill>
                          <a:latin typeface="Arial"/>
                        </a:defRPr>
                      </a:pPr>
                      <a:r>
                        <a:t>TC-API-01</a:t>
                      </a:r>
                    </a:p>
                  </a:txBody>
                  <a:tcPr>
                    <a:solidFill>
                      <a:srgbClr val="182136"/>
                    </a:solidFill>
                  </a:tcPr>
                </a:tc>
                <a:tc>
                  <a:txBody>
                    <a:bodyPr/>
                    <a:lstStyle/>
                    <a:p>
                      <a:pPr>
                        <a:defRPr sz="900">
                          <a:solidFill>
                            <a:srgbClr val="94A3B8"/>
                          </a:solidFill>
                          <a:latin typeface="Arial"/>
                        </a:defRPr>
                      </a:pPr>
                      <a:r>
                        <a:t>GET /api/health on Render production service</a:t>
                      </a:r>
                    </a:p>
                  </a:txBody>
                  <a:tcPr>
                    <a:solidFill>
                      <a:srgbClr val="182136"/>
                    </a:solidFill>
                  </a:tcPr>
                </a:tc>
                <a:tc>
                  <a:txBody>
                    <a:bodyPr/>
                    <a:lstStyle/>
                    <a:p>
                      <a:pPr>
                        <a:defRPr sz="900">
                          <a:solidFill>
                            <a:srgbClr val="94A3B8"/>
                          </a:solidFill>
                          <a:latin typeface="Arial"/>
                        </a:defRPr>
                      </a:pPr>
                      <a:r>
                        <a:t>Return HTTP 200 OK with status: ok</a:t>
                      </a:r>
                    </a:p>
                  </a:txBody>
                  <a:tcPr>
                    <a:solidFill>
                      <a:srgbClr val="182136"/>
                    </a:solidFill>
                  </a:tcPr>
                </a:tc>
                <a:tc>
                  <a:txBody>
                    <a:bodyPr/>
                    <a:lstStyle/>
                    <a:p>
                      <a:pPr>
                        <a:defRPr sz="900">
                          <a:solidFill>
                            <a:srgbClr val="94A3B8"/>
                          </a:solidFill>
                          <a:latin typeface="Arial"/>
                        </a:defRPr>
                      </a:pPr>
                      <a:r>
                        <a:t>HTTP 200 OK (latency 82ms)</a:t>
                      </a:r>
                    </a:p>
                  </a:txBody>
                  <a:tcPr>
                    <a:solidFill>
                      <a:srgbClr val="182136"/>
                    </a:solidFill>
                  </a:tcPr>
                </a:tc>
                <a:tc>
                  <a:txBody>
                    <a:bodyPr/>
                    <a:lstStyle/>
                    <a:p>
                      <a:pPr>
                        <a:defRPr sz="900" b="1">
                          <a:solidFill>
                            <a:srgbClr val="10B981"/>
                          </a:solidFill>
                          <a:latin typeface="Arial"/>
                        </a:defRPr>
                      </a:pPr>
                      <a:r>
                        <a:t>PASSED</a:t>
                      </a:r>
                    </a:p>
                  </a:txBody>
                  <a:tcPr>
                    <a:solidFill>
                      <a:srgbClr val="182136"/>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DEPLOYMENT METRICS</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18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Verified Results &amp; Production Deployment Status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Evidence of live cloud services, physical APK distribution metrics, and performance benchmarks.</a:t>
            </a:r>
          </a:p>
        </p:txBody>
      </p:sp>
      <p:sp>
        <p:nvSpPr>
          <p:cNvPr id="7" name="Rounded Rectangle 6"/>
          <p:cNvSpPr/>
          <p:nvPr/>
        </p:nvSpPr>
        <p:spPr>
          <a:xfrm>
            <a:off x="731520" y="182880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Production APK Artifact</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Filename: campus-events-release.apk</a:t>
            </a:r>
          </a:p>
          <a:p>
            <a:pPr>
              <a:spcAft>
                <a:spcPts val="600"/>
              </a:spcAft>
              <a:defRPr sz="1000">
                <a:solidFill>
                  <a:srgbClr val="F8FAFC"/>
                </a:solidFill>
                <a:latin typeface="Arial"/>
              </a:defRPr>
            </a:pPr>
            <a:r>
              <a:t>•  Version: v1.0.0 (Build 5 Release)</a:t>
            </a:r>
          </a:p>
          <a:p>
            <a:pPr>
              <a:spcAft>
                <a:spcPts val="600"/>
              </a:spcAft>
              <a:defRPr sz="1000">
                <a:solidFill>
                  <a:srgbClr val="F8FAFC"/>
                </a:solidFill>
                <a:latin typeface="Arial"/>
              </a:defRPr>
            </a:pPr>
            <a:r>
              <a:t>•  Binary File Size: 60.5 MB (Fully compiled Hermes)</a:t>
            </a:r>
          </a:p>
          <a:p>
            <a:pPr>
              <a:spcAft>
                <a:spcPts val="600"/>
              </a:spcAft>
              <a:defRPr sz="1000">
                <a:solidFill>
                  <a:srgbClr val="F8FAFC"/>
                </a:solidFill>
                <a:latin typeface="Arial"/>
              </a:defRPr>
            </a:pPr>
            <a:r>
              <a:t>•  Target SDK: Android 14 (API 34) | Min SDK: 26</a:t>
            </a:r>
          </a:p>
          <a:p>
            <a:pPr>
              <a:spcAft>
                <a:spcPts val="600"/>
              </a:spcAft>
              <a:defRPr sz="1000">
                <a:solidFill>
                  <a:srgbClr val="F8FAFC"/>
                </a:solidFill>
                <a:latin typeface="Arial"/>
              </a:defRPr>
            </a:pPr>
            <a:r>
              <a:t>•  Signature: Verified v2 &amp; v3 (SHA384withRSA)</a:t>
            </a:r>
          </a:p>
          <a:p>
            <a:pPr>
              <a:spcAft>
                <a:spcPts val="600"/>
              </a:spcAft>
              <a:defRPr sz="1000">
                <a:solidFill>
                  <a:srgbClr val="F8FAFC"/>
                </a:solidFill>
                <a:latin typeface="Arial"/>
              </a:defRPr>
            </a:pPr>
            <a:r>
              <a:t>•  Integrity Hash: eefed1ee3510faa6615312005f5...</a:t>
            </a:r>
          </a:p>
        </p:txBody>
      </p:sp>
      <p:sp>
        <p:nvSpPr>
          <p:cNvPr id="10" name="Rounded Rectangle 9"/>
          <p:cNvSpPr/>
          <p:nvPr/>
        </p:nvSpPr>
        <p:spPr>
          <a:xfrm>
            <a:off x="62179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Live Backend Cloud Service</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Host: Render.com Managed Cloud Service</a:t>
            </a:r>
          </a:p>
          <a:p>
            <a:pPr>
              <a:spcAft>
                <a:spcPts val="600"/>
              </a:spcAft>
              <a:defRPr sz="1000">
                <a:solidFill>
                  <a:srgbClr val="F8FAFC"/>
                </a:solidFill>
                <a:latin typeface="Arial"/>
              </a:defRPr>
            </a:pPr>
            <a:r>
              <a:t>•  API URL: campus-events-api-icb1.onrender.com</a:t>
            </a:r>
          </a:p>
          <a:p>
            <a:pPr>
              <a:spcAft>
                <a:spcPts val="600"/>
              </a:spcAft>
              <a:defRPr sz="1000">
                <a:solidFill>
                  <a:srgbClr val="F8FAFC"/>
                </a:solidFill>
                <a:latin typeface="Arial"/>
              </a:defRPr>
            </a:pPr>
            <a:r>
              <a:t>•  Status: Live / Operational (HTTP 200 OK)</a:t>
            </a:r>
          </a:p>
          <a:p>
            <a:pPr>
              <a:spcAft>
                <a:spcPts val="600"/>
              </a:spcAft>
              <a:defRPr sz="1000">
                <a:solidFill>
                  <a:srgbClr val="F8FAFC"/>
                </a:solidFill>
                <a:latin typeface="Arial"/>
              </a:defRPr>
            </a:pPr>
            <a:r>
              <a:t>•  Average Response Latency: 82ms</a:t>
            </a:r>
          </a:p>
          <a:p>
            <a:pPr>
              <a:spcAft>
                <a:spcPts val="600"/>
              </a:spcAft>
              <a:defRPr sz="1000">
                <a:solidFill>
                  <a:srgbClr val="F8FAFC"/>
                </a:solidFill>
                <a:latin typeface="Arial"/>
              </a:defRPr>
            </a:pPr>
            <a:r>
              <a:t>•  CI/CD: Automated Git commit deployment</a:t>
            </a:r>
          </a:p>
          <a:p>
            <a:pPr>
              <a:spcAft>
                <a:spcPts val="600"/>
              </a:spcAft>
              <a:defRPr sz="1000">
                <a:solidFill>
                  <a:srgbClr val="F8FAFC"/>
                </a:solidFill>
                <a:latin typeface="Arial"/>
              </a:defRPr>
            </a:pPr>
            <a:r>
              <a:t>•  Health Check Endpoint: /api/health</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Live Supabase Database</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Database Engine: PostgreSQL 15 Relational DB</a:t>
            </a:r>
          </a:p>
          <a:p>
            <a:pPr>
              <a:spcAft>
                <a:spcPts val="600"/>
              </a:spcAft>
              <a:defRPr sz="1000">
                <a:solidFill>
                  <a:srgbClr val="F8FAFC"/>
                </a:solidFill>
                <a:latin typeface="Arial"/>
              </a:defRPr>
            </a:pPr>
            <a:r>
              <a:t>•  Total Applied Migrations: 6 Schema Migrations</a:t>
            </a:r>
          </a:p>
          <a:p>
            <a:pPr>
              <a:spcAft>
                <a:spcPts val="600"/>
              </a:spcAft>
              <a:defRPr sz="1000">
                <a:solidFill>
                  <a:srgbClr val="F8FAFC"/>
                </a:solidFill>
                <a:latin typeface="Arial"/>
              </a:defRPr>
            </a:pPr>
            <a:r>
              <a:t>•  Active Tables: profiles, events, registrations, ...</a:t>
            </a:r>
          </a:p>
          <a:p>
            <a:pPr>
              <a:spcAft>
                <a:spcPts val="600"/>
              </a:spcAft>
              <a:defRPr sz="1000">
                <a:solidFill>
                  <a:srgbClr val="F8FAFC"/>
                </a:solidFill>
                <a:latin typeface="Arial"/>
              </a:defRPr>
            </a:pPr>
            <a:r>
              <a:t>•  Security: RLS Active on 100% of tables</a:t>
            </a:r>
          </a:p>
          <a:p>
            <a:pPr>
              <a:spcAft>
                <a:spcPts val="600"/>
              </a:spcAft>
              <a:defRPr sz="1000">
                <a:solidFill>
                  <a:srgbClr val="F8FAFC"/>
                </a:solidFill>
                <a:latin typeface="Arial"/>
              </a:defRPr>
            </a:pPr>
            <a:r>
              <a:t>•  Audit Logging: Live sign_in_logs active</a:t>
            </a:r>
          </a:p>
          <a:p>
            <a:pPr>
              <a:spcAft>
                <a:spcPts val="600"/>
              </a:spcAft>
              <a:defRPr sz="1000">
                <a:solidFill>
                  <a:srgbClr val="F8FAFC"/>
                </a:solidFill>
                <a:latin typeface="Arial"/>
              </a:defRPr>
            </a:pPr>
            <a:r>
              <a:t>•  Storage Buckets: event-posters, avatars</a:t>
            </a:r>
          </a:p>
        </p:txBody>
      </p:sp>
      <p:sp>
        <p:nvSpPr>
          <p:cNvPr id="16" name="Rounded Rectangle 15"/>
          <p:cNvSpPr/>
          <p:nvPr/>
        </p:nvSpPr>
        <p:spPr>
          <a:xfrm>
            <a:off x="6217920" y="4206240"/>
            <a:ext cx="5212080" cy="214884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Public Distribution Web Portal</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Portal URL: arjunak18.github.io/campus-events/</a:t>
            </a:r>
          </a:p>
          <a:p>
            <a:pPr>
              <a:spcAft>
                <a:spcPts val="600"/>
              </a:spcAft>
              <a:defRPr sz="1000">
                <a:solidFill>
                  <a:srgbClr val="F8FAFC"/>
                </a:solidFill>
                <a:latin typeface="Arial"/>
              </a:defRPr>
            </a:pPr>
            <a:r>
              <a:t>•  Hosting: GitHub Pages with Custom .nojekyll CDN</a:t>
            </a:r>
          </a:p>
          <a:p>
            <a:pPr>
              <a:spcAft>
                <a:spcPts val="600"/>
              </a:spcAft>
              <a:defRPr sz="1000">
                <a:solidFill>
                  <a:srgbClr val="F8FAFC"/>
                </a:solidFill>
                <a:latin typeface="Arial"/>
              </a:defRPr>
            </a:pPr>
            <a:r>
              <a:t>•  Features: Direct APK Download &amp; QR Scanner</a:t>
            </a:r>
          </a:p>
          <a:p>
            <a:pPr>
              <a:spcAft>
                <a:spcPts val="600"/>
              </a:spcAft>
              <a:defRPr sz="1000">
                <a:solidFill>
                  <a:srgbClr val="F8FAFC"/>
                </a:solidFill>
                <a:latin typeface="Arial"/>
              </a:defRPr>
            </a:pPr>
            <a:r>
              <a:t>•  Presentation Deck: presentation.html (Live)</a:t>
            </a:r>
          </a:p>
          <a:p>
            <a:pPr>
              <a:spcAft>
                <a:spcPts val="600"/>
              </a:spcAft>
              <a:defRPr sz="1000">
                <a:solidFill>
                  <a:srgbClr val="F8FAFC"/>
                </a:solidFill>
                <a:latin typeface="Arial"/>
              </a:defRPr>
            </a:pPr>
            <a:r>
              <a:t>•  PDF Documentation: Campus-Events-Project-Report.pdf</a:t>
            </a:r>
          </a:p>
          <a:p>
            <a:pPr>
              <a:spcAft>
                <a:spcPts val="600"/>
              </a:spcAft>
              <a:defRPr sz="1000">
                <a:solidFill>
                  <a:srgbClr val="F8FAFC"/>
                </a:solidFill>
                <a:latin typeface="Arial"/>
              </a:defRPr>
            </a:pPr>
            <a:r>
              <a:t>•  Availability: 100% Global Uptime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ENGINEERING RIGOR</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19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Engineering Challenges &amp; Technical Solutions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Analysis of critical architectural roadblocks encountered during development and their solutions.</a:t>
            </a:r>
          </a:p>
        </p:txBody>
      </p:sp>
      <p:sp>
        <p:nvSpPr>
          <p:cNvPr id="7" name="Rounded Rectangle 6"/>
          <p:cNvSpPr/>
          <p:nvPr/>
        </p:nvSpPr>
        <p:spPr>
          <a:xfrm>
            <a:off x="7315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846320" cy="411480"/>
          </a:xfrm>
          <a:prstGeom prst="rect">
            <a:avLst/>
          </a:prstGeom>
          <a:noFill/>
        </p:spPr>
        <p:txBody>
          <a:bodyPr wrap="square">
            <a:spAutoFit/>
          </a:bodyPr>
          <a:lstStyle/>
          <a:p>
            <a:pPr>
              <a:defRPr sz="1300" b="1">
                <a:solidFill>
                  <a:srgbClr val="1DCD9F"/>
                </a:solidFill>
                <a:latin typeface="Arial"/>
              </a:defRPr>
            </a:pPr>
            <a:r>
              <a:t>1. Windows MAX_PATH (260 Char) &amp; CMake Failure</a:t>
            </a:r>
          </a:p>
        </p:txBody>
      </p:sp>
      <p:sp>
        <p:nvSpPr>
          <p:cNvPr id="9" name="TextBox 8"/>
          <p:cNvSpPr txBox="1"/>
          <p:nvPr/>
        </p:nvSpPr>
        <p:spPr>
          <a:xfrm>
            <a:off x="9144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Issue: CMake/Ninja builds failed because nested C++ paths in React Native New Architecture exceeded 272 chars.</a:t>
            </a:r>
          </a:p>
          <a:p>
            <a:pPr>
              <a:spcAft>
                <a:spcPts val="600"/>
              </a:spcAft>
              <a:defRPr sz="1000">
                <a:solidFill>
                  <a:srgbClr val="F8FAFC"/>
                </a:solidFill>
                <a:latin typeface="Arial"/>
              </a:defRPr>
            </a:pPr>
            <a:r>
              <a:t>•  Solution: Mapped virtual drive M:\ directly to mobile folder, added set(CMAKE_OBJECT_PATH_MAX 1024) to CMakeLists.txt, and flattened autolinked sources to local directories.</a:t>
            </a:r>
          </a:p>
        </p:txBody>
      </p:sp>
      <p:sp>
        <p:nvSpPr>
          <p:cNvPr id="10" name="Rounded Rectangle 9"/>
          <p:cNvSpPr/>
          <p:nvPr/>
        </p:nvSpPr>
        <p:spPr>
          <a:xfrm>
            <a:off x="6217920" y="182880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2. C++ Linker Duplicate Symbol Collision</a:t>
            </a:r>
          </a:p>
        </p:txBody>
      </p:sp>
      <p:sp>
        <p:nvSpPr>
          <p:cNvPr id="12" name="TextBox 11"/>
          <p:cNvSpPr txBox="1"/>
          <p:nvPr/>
        </p:nvSpPr>
        <p:spPr>
          <a:xfrm>
            <a:off x="6400800" y="233172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Issue: Ninja linker aborted with duplicate symbol: rnscreens_ModuleProvider in react-native-screens.</a:t>
            </a:r>
          </a:p>
          <a:p>
            <a:pPr>
              <a:spcAft>
                <a:spcPts val="600"/>
              </a:spcAft>
              <a:defRPr sz="1000">
                <a:solidFill>
                  <a:srgbClr val="F8FAFC"/>
                </a:solidFill>
                <a:latin typeface="Arial"/>
              </a:defRPr>
            </a:pPr>
            <a:r>
              <a:t>•  Solution: Diagnosed autolinking conflict between generated stub and source file; purged redundant rnscreens-generated.cpp from compilation glob, cutting build time to 2m 8s.</a:t>
            </a:r>
          </a:p>
        </p:txBody>
      </p:sp>
      <p:sp>
        <p:nvSpPr>
          <p:cNvPr id="13" name="Rounded Rectangle 12"/>
          <p:cNvSpPr/>
          <p:nvPr/>
        </p:nvSpPr>
        <p:spPr>
          <a:xfrm>
            <a:off x="7315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343400"/>
            <a:ext cx="4846320" cy="411480"/>
          </a:xfrm>
          <a:prstGeom prst="rect">
            <a:avLst/>
          </a:prstGeom>
          <a:noFill/>
        </p:spPr>
        <p:txBody>
          <a:bodyPr wrap="square">
            <a:spAutoFit/>
          </a:bodyPr>
          <a:lstStyle/>
          <a:p>
            <a:pPr>
              <a:defRPr sz="1300" b="1">
                <a:solidFill>
                  <a:srgbClr val="1DCD9F"/>
                </a:solidFill>
                <a:latin typeface="Arial"/>
              </a:defRPr>
            </a:pPr>
            <a:r>
              <a:t>3. Android 'Something went wrong' Install Failure</a:t>
            </a:r>
          </a:p>
        </p:txBody>
      </p:sp>
      <p:sp>
        <p:nvSpPr>
          <p:cNvPr id="15" name="TextBox 14"/>
          <p:cNvSpPr txBox="1"/>
          <p:nvPr/>
        </p:nvSpPr>
        <p:spPr>
          <a:xfrm>
            <a:off x="9144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Issue: Users received installation errors when attempting to install the APK on phones with earlier test builds.</a:t>
            </a:r>
          </a:p>
          <a:p>
            <a:pPr>
              <a:spcAft>
                <a:spcPts val="600"/>
              </a:spcAft>
              <a:defRPr sz="1000">
                <a:solidFill>
                  <a:srgbClr val="F8FAFC"/>
                </a:solidFill>
                <a:latin typeface="Arial"/>
              </a:defRPr>
            </a:pPr>
            <a:r>
              <a:t>•  Solution: Identified signature mismatch between Expo debug keystore and new release; generated a dedicated 2048-bit RSA release.keystore and signed with v2/v3 schemes.</a:t>
            </a:r>
          </a:p>
        </p:txBody>
      </p:sp>
      <p:sp>
        <p:nvSpPr>
          <p:cNvPr id="16" name="Rounded Rectangle 15"/>
          <p:cNvSpPr/>
          <p:nvPr/>
        </p:nvSpPr>
        <p:spPr>
          <a:xfrm>
            <a:off x="6217920" y="4206240"/>
            <a:ext cx="5212080" cy="214884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4343400"/>
            <a:ext cx="4846320" cy="411480"/>
          </a:xfrm>
          <a:prstGeom prst="rect">
            <a:avLst/>
          </a:prstGeom>
          <a:noFill/>
        </p:spPr>
        <p:txBody>
          <a:bodyPr wrap="square">
            <a:spAutoFit/>
          </a:bodyPr>
          <a:lstStyle/>
          <a:p>
            <a:pPr>
              <a:defRPr sz="1300" b="1">
                <a:solidFill>
                  <a:srgbClr val="1DCD9F"/>
                </a:solidFill>
                <a:latin typeface="Arial"/>
              </a:defRPr>
            </a:pPr>
            <a:r>
              <a:t>4. Mobile Browser Cross-Origin Download Blocking</a:t>
            </a:r>
          </a:p>
        </p:txBody>
      </p:sp>
      <p:sp>
        <p:nvSpPr>
          <p:cNvPr id="18" name="TextBox 17"/>
          <p:cNvSpPr txBox="1"/>
          <p:nvPr/>
        </p:nvSpPr>
        <p:spPr>
          <a:xfrm>
            <a:off x="6400800" y="4709160"/>
            <a:ext cx="4846320" cy="1508760"/>
          </a:xfrm>
          <a:prstGeom prst="rect">
            <a:avLst/>
          </a:prstGeom>
          <a:noFill/>
        </p:spPr>
        <p:txBody>
          <a:bodyPr wrap="square" tIns="0" bIns="0" lIns="0" rIns="0">
            <a:spAutoFit/>
          </a:bodyPr>
          <a:lstStyle/>
          <a:p>
            <a:pPr>
              <a:spcAft>
                <a:spcPts val="600"/>
              </a:spcAft>
              <a:defRPr sz="1000">
                <a:solidFill>
                  <a:srgbClr val="F8FAFC"/>
                </a:solidFill>
                <a:latin typeface="Arial"/>
              </a:defRPr>
            </a:pPr>
            <a:r>
              <a:t>•  Issue: Mobile Chrome blocked APK downloads due to 302 redirects from GitHub Releases to Amazon S3 CDN.</a:t>
            </a:r>
          </a:p>
          <a:p>
            <a:pPr>
              <a:spcAft>
                <a:spcPts val="600"/>
              </a:spcAft>
              <a:defRPr sz="1000">
                <a:solidFill>
                  <a:srgbClr val="F8FAFC"/>
                </a:solidFill>
                <a:latin typeface="Arial"/>
              </a:defRPr>
            </a:pPr>
            <a:r>
              <a:t>•  Solution: Deployed the APK directly to the same-origin GitHub Pages branch with explicit octet-stream MIME headers, enabling 1-tap direct downloads on all browsers.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ROADMAP</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20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Current Limitations &amp; Future Enhancements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Transparent boundary analysis separating implemented functionality from proposed Phase 2 upgrades.</a:t>
            </a:r>
          </a:p>
        </p:txBody>
      </p:sp>
      <p:sp>
        <p:nvSpPr>
          <p:cNvPr id="7" name="Rounded Rectangle 6"/>
          <p:cNvSpPr/>
          <p:nvPr/>
        </p:nvSpPr>
        <p:spPr>
          <a:xfrm>
            <a:off x="731520" y="1828800"/>
            <a:ext cx="512064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754880" cy="411480"/>
          </a:xfrm>
          <a:prstGeom prst="rect">
            <a:avLst/>
          </a:prstGeom>
          <a:noFill/>
        </p:spPr>
        <p:txBody>
          <a:bodyPr wrap="square">
            <a:spAutoFit/>
          </a:bodyPr>
          <a:lstStyle/>
          <a:p>
            <a:pPr>
              <a:defRPr sz="1300" b="1">
                <a:solidFill>
                  <a:srgbClr val="1DCD9F"/>
                </a:solidFill>
                <a:latin typeface="Arial"/>
              </a:defRPr>
            </a:pPr>
            <a:r>
              <a:t>Current System Boundaries (Phase 1)</a:t>
            </a:r>
          </a:p>
        </p:txBody>
      </p:sp>
      <p:sp>
        <p:nvSpPr>
          <p:cNvPr id="9" name="TextBox 8"/>
          <p:cNvSpPr txBox="1"/>
          <p:nvPr/>
        </p:nvSpPr>
        <p:spPr>
          <a:xfrm>
            <a:off x="914400" y="2377440"/>
            <a:ext cx="4754880" cy="3657600"/>
          </a:xfrm>
          <a:prstGeom prst="rect">
            <a:avLst/>
          </a:prstGeom>
          <a:noFill/>
        </p:spPr>
        <p:txBody>
          <a:bodyPr wrap="square" tIns="0" bIns="0" lIns="0" rIns="0">
            <a:spAutoFit/>
          </a:bodyPr>
          <a:lstStyle/>
          <a:p>
            <a:pPr>
              <a:spcAft>
                <a:spcPts val="600"/>
              </a:spcAft>
              <a:defRPr sz="1100">
                <a:solidFill>
                  <a:srgbClr val="F8FAFC"/>
                </a:solidFill>
                <a:latin typeface="Arial"/>
              </a:defRPr>
            </a:pPr>
            <a:r>
              <a:t>•  Single-Institution Scope: Currently tuned for a single university campus network rather than multi-campus federations.</a:t>
            </a:r>
          </a:p>
          <a:p>
            <a:pPr>
              <a:spcAft>
                <a:spcPts val="600"/>
              </a:spcAft>
              <a:defRPr sz="1100">
                <a:solidFill>
                  <a:srgbClr val="F8FAFC"/>
                </a:solidFill>
                <a:latin typeface="Arial"/>
              </a:defRPr>
            </a:pPr>
            <a:r>
              <a:t>•  Manual Organizer Vetting: Event publishing privileges are currently granted via database organizer role flags rather than an automated faculty approval portal.</a:t>
            </a:r>
          </a:p>
          <a:p>
            <a:pPr>
              <a:spcAft>
                <a:spcPts val="600"/>
              </a:spcAft>
              <a:defRPr sz="1100">
                <a:solidFill>
                  <a:srgbClr val="F8FAFC"/>
                </a:solidFill>
                <a:latin typeface="Arial"/>
              </a:defRPr>
            </a:pPr>
            <a:r>
              <a:t>•  Mobile Platform Focus: Standalone release binary currently compiled for Android; iOS requires Apple Developer Program provisioning.</a:t>
            </a:r>
          </a:p>
          <a:p>
            <a:pPr>
              <a:spcAft>
                <a:spcPts val="600"/>
              </a:spcAft>
              <a:defRPr sz="1100">
                <a:solidFill>
                  <a:srgbClr val="F8FAFC"/>
                </a:solidFill>
                <a:latin typeface="Arial"/>
              </a:defRPr>
            </a:pPr>
            <a:r>
              <a:t>•  Local Push Notifications: Event reminders utilize local device scheduling; cloud push notifications require Firebase Cloud Messaging (FCM) integration.</a:t>
            </a:r>
          </a:p>
        </p:txBody>
      </p:sp>
      <p:sp>
        <p:nvSpPr>
          <p:cNvPr id="10" name="Rounded Rectangle 9"/>
          <p:cNvSpPr/>
          <p:nvPr/>
        </p:nvSpPr>
        <p:spPr>
          <a:xfrm>
            <a:off x="6217920" y="1828800"/>
            <a:ext cx="5212080" cy="448056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Proposed Future Enhancements (Phase 2)</a:t>
            </a:r>
          </a:p>
        </p:txBody>
      </p:sp>
      <p:sp>
        <p:nvSpPr>
          <p:cNvPr id="12" name="TextBox 11"/>
          <p:cNvSpPr txBox="1"/>
          <p:nvPr/>
        </p:nvSpPr>
        <p:spPr>
          <a:xfrm>
            <a:off x="6400800" y="2377440"/>
            <a:ext cx="4846320" cy="3657600"/>
          </a:xfrm>
          <a:prstGeom prst="rect">
            <a:avLst/>
          </a:prstGeom>
          <a:noFill/>
        </p:spPr>
        <p:txBody>
          <a:bodyPr wrap="square" tIns="0" bIns="0" lIns="0" rIns="0">
            <a:spAutoFit/>
          </a:bodyPr>
          <a:lstStyle/>
          <a:p>
            <a:pPr>
              <a:spcAft>
                <a:spcPts val="600"/>
              </a:spcAft>
              <a:defRPr sz="1100">
                <a:solidFill>
                  <a:srgbClr val="F8FAFC"/>
                </a:solidFill>
                <a:latin typeface="Arial"/>
              </a:defRPr>
            </a:pPr>
            <a:r>
              <a:t>•  In-App QR Ticket Generation &amp; Check-In: Dynamic QR codes generated for registered students with an in-app scanner for event gate entry.</a:t>
            </a:r>
          </a:p>
          <a:p>
            <a:pPr>
              <a:spcAft>
                <a:spcPts val="600"/>
              </a:spcAft>
              <a:defRPr sz="1100">
                <a:solidFill>
                  <a:srgbClr val="F8FAFC"/>
                </a:solidFill>
                <a:latin typeface="Arial"/>
              </a:defRPr>
            </a:pPr>
            <a:r>
              <a:t>•  Payment Gateway Integration: Secure integration with Razorpay or Stripe to facilitate paid registrations for flagship workshops and hackathons.</a:t>
            </a:r>
          </a:p>
          <a:p>
            <a:pPr>
              <a:spcAft>
                <a:spcPts val="600"/>
              </a:spcAft>
              <a:defRPr sz="1100">
                <a:solidFill>
                  <a:srgbClr val="F8FAFC"/>
                </a:solidFill>
                <a:latin typeface="Arial"/>
              </a:defRPr>
            </a:pPr>
            <a:r>
              <a:t>•  Cloud Push Notifications (FCM / APNs): Real-time push alerts notifying students 1 hour before bookmarked events begin or when venues change.</a:t>
            </a:r>
          </a:p>
          <a:p>
            <a:pPr>
              <a:spcAft>
                <a:spcPts val="600"/>
              </a:spcAft>
              <a:defRPr sz="1100">
                <a:solidFill>
                  <a:srgbClr val="F8FAFC"/>
                </a:solidFill>
                <a:latin typeface="Arial"/>
              </a:defRPr>
            </a:pPr>
            <a:r>
              <a:t>•  Multi-Tenant College Federation: Expand database schemas to support multiple collegiate institutions with isolated tenant schemas.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SUMMARY</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21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Conclusion &amp; Project Impact</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Concluding evaluation of the technical objectives achieved and practical campus contributions.</a:t>
            </a:r>
          </a:p>
        </p:txBody>
      </p:sp>
      <p:sp>
        <p:nvSpPr>
          <p:cNvPr id="7" name="Rounded Rectangle 6"/>
          <p:cNvSpPr/>
          <p:nvPr/>
        </p:nvSpPr>
        <p:spPr>
          <a:xfrm>
            <a:off x="731520" y="1828800"/>
            <a:ext cx="512064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4754880" cy="411480"/>
          </a:xfrm>
          <a:prstGeom prst="rect">
            <a:avLst/>
          </a:prstGeom>
          <a:noFill/>
        </p:spPr>
        <p:txBody>
          <a:bodyPr wrap="square">
            <a:spAutoFit/>
          </a:bodyPr>
          <a:lstStyle/>
          <a:p>
            <a:pPr>
              <a:defRPr sz="1300" b="1">
                <a:solidFill>
                  <a:srgbClr val="1DCD9F"/>
                </a:solidFill>
                <a:latin typeface="Arial"/>
              </a:defRPr>
            </a:pPr>
            <a:r>
              <a:t>Project Achievements &amp; Milestones</a:t>
            </a:r>
          </a:p>
        </p:txBody>
      </p:sp>
      <p:sp>
        <p:nvSpPr>
          <p:cNvPr id="9" name="TextBox 8"/>
          <p:cNvSpPr txBox="1"/>
          <p:nvPr/>
        </p:nvSpPr>
        <p:spPr>
          <a:xfrm>
            <a:off x="1005840" y="2468880"/>
            <a:ext cx="4572000" cy="3566160"/>
          </a:xfrm>
          <a:prstGeom prst="rect">
            <a:avLst/>
          </a:prstGeom>
          <a:noFill/>
        </p:spPr>
        <p:txBody>
          <a:bodyPr wrap="square" tIns="0" bIns="0" lIns="0" rIns="0">
            <a:spAutoFit/>
          </a:bodyPr>
          <a:lstStyle/>
          <a:p>
            <a:pPr>
              <a:spcAft>
                <a:spcPts val="600"/>
              </a:spcAft>
              <a:defRPr sz="1100">
                <a:solidFill>
                  <a:srgbClr val="F8FAFC"/>
                </a:solidFill>
                <a:latin typeface="Arial"/>
              </a:defRPr>
            </a:pPr>
            <a:r>
              <a:t>•  Successfully Engineered Full-Stack Solution: Built and launched a robust mobile client, cloud REST API, and relational database system.</a:t>
            </a:r>
          </a:p>
          <a:p>
            <a:pPr>
              <a:spcAft>
                <a:spcPts val="600"/>
              </a:spcAft>
              <a:defRPr sz="1100">
                <a:solidFill>
                  <a:srgbClr val="F8FAFC"/>
                </a:solidFill>
                <a:latin typeface="Arial"/>
              </a:defRPr>
            </a:pPr>
            <a:r>
              <a:t>•  Eliminated Event Fragmentation: Created a centralized, synchronized campus calendar accessible to all students 24/7.</a:t>
            </a:r>
          </a:p>
          <a:p>
            <a:pPr>
              <a:spcAft>
                <a:spcPts val="600"/>
              </a:spcAft>
              <a:defRPr sz="1100">
                <a:solidFill>
                  <a:srgbClr val="F8FAFC"/>
                </a:solidFill>
                <a:latin typeface="Arial"/>
              </a:defRPr>
            </a:pPr>
            <a:r>
              <a:t>•  Achieved Zero-Trust Student Identity: Implemented dual-layer strict Gmail validation and email verification, completely stopping fake registrations.</a:t>
            </a:r>
          </a:p>
          <a:p>
            <a:pPr>
              <a:spcAft>
                <a:spcPts val="600"/>
              </a:spcAft>
              <a:defRPr sz="1100">
                <a:solidFill>
                  <a:srgbClr val="F8FAFC"/>
                </a:solidFill>
                <a:latin typeface="Arial"/>
              </a:defRPr>
            </a:pPr>
            <a:r>
              <a:t>•  Automated Security Auditing: Captured all sign-in events with client telemetry to safeguard user privacy and administrative integrity.</a:t>
            </a:r>
          </a:p>
          <a:p>
            <a:pPr>
              <a:spcAft>
                <a:spcPts val="600"/>
              </a:spcAft>
              <a:defRPr sz="1100">
                <a:solidFill>
                  <a:srgbClr val="F8FAFC"/>
                </a:solidFill>
                <a:latin typeface="Arial"/>
              </a:defRPr>
            </a:pPr>
            <a:r>
              <a:t>•  100% Objectives Achieved: Successfully satisfied every technical milestone defined in the project scope.</a:t>
            </a:r>
          </a:p>
        </p:txBody>
      </p:sp>
      <p:sp>
        <p:nvSpPr>
          <p:cNvPr id="10" name="Rounded Rectangle 9"/>
          <p:cNvSpPr/>
          <p:nvPr/>
        </p:nvSpPr>
        <p:spPr>
          <a:xfrm>
            <a:off x="6217920" y="1828800"/>
            <a:ext cx="5212080" cy="4480560"/>
          </a:xfrm>
          <a:prstGeom prst="roundRect">
            <a:avLst/>
          </a:prstGeom>
          <a:solidFill>
            <a:srgbClr val="182136"/>
          </a:solidFill>
          <a:ln w="1270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965960"/>
            <a:ext cx="4846320" cy="411480"/>
          </a:xfrm>
          <a:prstGeom prst="rect">
            <a:avLst/>
          </a:prstGeom>
          <a:noFill/>
        </p:spPr>
        <p:txBody>
          <a:bodyPr wrap="square">
            <a:spAutoFit/>
          </a:bodyPr>
          <a:lstStyle/>
          <a:p>
            <a:pPr>
              <a:defRPr sz="1300" b="1">
                <a:solidFill>
                  <a:srgbClr val="1DCD9F"/>
                </a:solidFill>
                <a:latin typeface="Arial"/>
              </a:defRPr>
            </a:pPr>
            <a:r>
              <a:t>Practical Institutional Impact</a:t>
            </a:r>
          </a:p>
        </p:txBody>
      </p:sp>
      <p:sp>
        <p:nvSpPr>
          <p:cNvPr id="12" name="TextBox 11"/>
          <p:cNvSpPr txBox="1"/>
          <p:nvPr/>
        </p:nvSpPr>
        <p:spPr>
          <a:xfrm>
            <a:off x="6492240" y="2468880"/>
            <a:ext cx="4663440" cy="3566160"/>
          </a:xfrm>
          <a:prstGeom prst="rect">
            <a:avLst/>
          </a:prstGeom>
          <a:noFill/>
        </p:spPr>
        <p:txBody>
          <a:bodyPr wrap="square" tIns="0" bIns="0" lIns="0" rIns="0">
            <a:spAutoFit/>
          </a:bodyPr>
          <a:lstStyle/>
          <a:p>
            <a:pPr>
              <a:spcAft>
                <a:spcPts val="600"/>
              </a:spcAft>
              <a:defRPr sz="1100">
                <a:solidFill>
                  <a:srgbClr val="F8FAFC"/>
                </a:solidFill>
                <a:latin typeface="Arial"/>
              </a:defRPr>
            </a:pPr>
            <a:r>
              <a:t>•  Empowers Campus Life: Enhances student participation in academic, cultural, and sports opportunities across all departments.</a:t>
            </a:r>
          </a:p>
          <a:p>
            <a:pPr>
              <a:spcAft>
                <a:spcPts val="600"/>
              </a:spcAft>
              <a:defRPr sz="1100">
                <a:solidFill>
                  <a:srgbClr val="F8FAFC"/>
                </a:solidFill>
                <a:latin typeface="Arial"/>
              </a:defRPr>
            </a:pPr>
            <a:r>
              <a:t>•  Reduces Administrative Burden: Eliminates hours spent manually consolidating disconnected Google Forms and flyers.</a:t>
            </a:r>
          </a:p>
          <a:p>
            <a:pPr>
              <a:spcAft>
                <a:spcPts val="600"/>
              </a:spcAft>
              <a:defRPr sz="1100">
                <a:solidFill>
                  <a:srgbClr val="F8FAFC"/>
                </a:solidFill>
                <a:latin typeface="Arial"/>
              </a:defRPr>
            </a:pPr>
            <a:r>
              <a:t>•  Scalable Cloud Foundation: Built on enterprise-grade technologies (React Native, Express, Supabase PostgreSQL) ready for thousands of concurrent users.</a:t>
            </a:r>
          </a:p>
          <a:p>
            <a:pPr>
              <a:spcAft>
                <a:spcPts val="600"/>
              </a:spcAft>
              <a:defRPr sz="1100">
                <a:solidFill>
                  <a:srgbClr val="F8FAFC"/>
                </a:solidFill>
                <a:latin typeface="Arial"/>
              </a:defRPr>
            </a:pPr>
            <a:r>
              <a:t>•  Publicly Accessible Artifacts: Source code, production APK, interactive presentation, and documentation openly available on GitHub.</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2560320" cy="347472"/>
          </a:xfrm>
          <a:prstGeom prst="roundRect">
            <a:avLst/>
          </a:prstGeom>
          <a:solidFill>
            <a:srgbClr val="14233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38BDF8"/>
                </a:solidFill>
                <a:latin typeface="Arial"/>
              </a:defRPr>
            </a:pPr>
            <a:r>
              <a:t>●  BIBLIOGRAPHY</a:t>
            </a:r>
          </a:p>
        </p:txBody>
      </p:sp>
      <p:sp>
        <p:nvSpPr>
          <p:cNvPr id="4" name="TextBox 3"/>
          <p:cNvSpPr txBox="1"/>
          <p:nvPr/>
        </p:nvSpPr>
        <p:spPr>
          <a:xfrm>
            <a:off x="10332720" y="411480"/>
            <a:ext cx="1097280" cy="347472"/>
          </a:xfrm>
          <a:prstGeom prst="rect">
            <a:avLst/>
          </a:prstGeom>
          <a:noFill/>
        </p:spPr>
        <p:txBody>
          <a:bodyPr wrap="none">
            <a:spAutoFit/>
          </a:bodyPr>
          <a:lstStyle/>
          <a:p>
            <a:pPr algn="r">
              <a:defRPr sz="1100" b="1">
                <a:solidFill>
                  <a:srgbClr val="64748B"/>
                </a:solidFill>
                <a:latin typeface="Arial"/>
              </a:defRPr>
            </a:pPr>
            <a:r>
              <a:t>22 / 23</a:t>
            </a:r>
          </a:p>
        </p:txBody>
      </p:sp>
      <p:sp>
        <p:nvSpPr>
          <p:cNvPr id="5" name="TextBox 4"/>
          <p:cNvSpPr txBox="1"/>
          <p:nvPr/>
        </p:nvSpPr>
        <p:spPr>
          <a:xfrm>
            <a:off x="731520" y="822960"/>
            <a:ext cx="10698480" cy="594360"/>
          </a:xfrm>
          <a:prstGeom prst="rect">
            <a:avLst/>
          </a:prstGeom>
          <a:noFill/>
        </p:spPr>
        <p:txBody>
          <a:bodyPr wrap="square">
            <a:spAutoFit/>
          </a:bodyPr>
          <a:lstStyle/>
          <a:p>
            <a:pPr>
              <a:defRPr sz="2200" b="1">
                <a:solidFill>
                  <a:srgbClr val="F8FAFC"/>
                </a:solidFill>
                <a:latin typeface="Arial"/>
              </a:defRPr>
            </a:pPr>
            <a:r>
              <a:t>Technical References &amp; Academic Citations</a:t>
            </a:r>
          </a:p>
        </p:txBody>
      </p:sp>
      <p:sp>
        <p:nvSpPr>
          <p:cNvPr id="6" name="TextBox 5"/>
          <p:cNvSpPr txBox="1"/>
          <p:nvPr/>
        </p:nvSpPr>
        <p:spPr>
          <a:xfrm>
            <a:off x="731520" y="1371600"/>
            <a:ext cx="10698480" cy="365760"/>
          </a:xfrm>
          <a:prstGeom prst="rect">
            <a:avLst/>
          </a:prstGeom>
          <a:noFill/>
        </p:spPr>
        <p:txBody>
          <a:bodyPr wrap="square">
            <a:spAutoFit/>
          </a:bodyPr>
          <a:lstStyle/>
          <a:p>
            <a:pPr>
              <a:defRPr sz="1200">
                <a:solidFill>
                  <a:srgbClr val="94A3B8"/>
                </a:solidFill>
                <a:latin typeface="Arial"/>
              </a:defRPr>
            </a:pPr>
            <a:r>
              <a:t>Formal documentation, architectural specifications, and publications consulted during development.</a:t>
            </a:r>
          </a:p>
        </p:txBody>
      </p:sp>
      <p:sp>
        <p:nvSpPr>
          <p:cNvPr id="7" name="Rounded Rectangle 6"/>
          <p:cNvSpPr/>
          <p:nvPr/>
        </p:nvSpPr>
        <p:spPr>
          <a:xfrm>
            <a:off x="731520" y="1828800"/>
            <a:ext cx="10698480" cy="4480560"/>
          </a:xfrm>
          <a:prstGeom prst="roundRect">
            <a:avLst/>
          </a:prstGeom>
          <a:solidFill>
            <a:srgbClr val="182136"/>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65960"/>
            <a:ext cx="10332720" cy="411480"/>
          </a:xfrm>
          <a:prstGeom prst="rect">
            <a:avLst/>
          </a:prstGeom>
          <a:noFill/>
        </p:spPr>
        <p:txBody>
          <a:bodyPr wrap="square">
            <a:spAutoFit/>
          </a:bodyPr>
          <a:lstStyle/>
          <a:p>
            <a:pPr>
              <a:defRPr sz="1300" b="1">
                <a:solidFill>
                  <a:srgbClr val="1DCD9F"/>
                </a:solidFill>
                <a:latin typeface="Arial"/>
              </a:defRPr>
            </a:pPr>
            <a:r>
              <a:t>Consulted Technical &amp; Academic Literature</a:t>
            </a:r>
          </a:p>
        </p:txBody>
      </p:sp>
      <p:sp>
        <p:nvSpPr>
          <p:cNvPr id="9" name="TextBox 8"/>
          <p:cNvSpPr txBox="1"/>
          <p:nvPr/>
        </p:nvSpPr>
        <p:spPr>
          <a:xfrm>
            <a:off x="1005840" y="2377440"/>
            <a:ext cx="10149840" cy="3657600"/>
          </a:xfrm>
          <a:prstGeom prst="rect">
            <a:avLst/>
          </a:prstGeom>
          <a:noFill/>
        </p:spPr>
        <p:txBody>
          <a:bodyPr wrap="square" tIns="0" bIns="0" lIns="0" rIns="0">
            <a:spAutoFit/>
          </a:bodyPr>
          <a:lstStyle/>
          <a:p>
            <a:pPr>
              <a:spcAft>
                <a:spcPts val="600"/>
              </a:spcAft>
              <a:defRPr sz="1050">
                <a:solidFill>
                  <a:srgbClr val="F8FAFC"/>
                </a:solidFill>
                <a:latin typeface="Arial"/>
              </a:defRPr>
            </a:pPr>
            <a:r>
              <a:t>•  [1] Meta Open Source, 'React Native Architecture: TurboModules, Fabric Renderer, and the Hermes Engine,' React Native Documentation, 2025. [Online]. Available: https://reactnative.dev/docs/architecture-overview</a:t>
            </a:r>
          </a:p>
          <a:p>
            <a:pPr>
              <a:spcAft>
                <a:spcPts val="600"/>
              </a:spcAft>
              <a:defRPr sz="1050">
                <a:solidFill>
                  <a:srgbClr val="F8FAFC"/>
                </a:solidFill>
                <a:latin typeface="Arial"/>
              </a:defRPr>
            </a:pPr>
            <a:r>
              <a:t>•  [2] Expo Team, 'Expo SDK 57: Native Tooling, Custom Config Plugins, and Continuous Native Generation,' Expo Docs, 2025. [Online]. Available: https://docs.expo.dev/</a:t>
            </a:r>
          </a:p>
          <a:p>
            <a:pPr>
              <a:spcAft>
                <a:spcPts val="600"/>
              </a:spcAft>
              <a:defRPr sz="1050">
                <a:solidFill>
                  <a:srgbClr val="F8FAFC"/>
                </a:solidFill>
                <a:latin typeface="Arial"/>
              </a:defRPr>
            </a:pPr>
            <a:r>
              <a:t>•  [3] Supabase Inc., 'PostgreSQL Row Level Security (RLS) and Enterprise GoTrue Authentication Architecture,' Supabase Technical Documentation, 2025. [Online]. Available: https://supabase.com/docs/guides/database/postgres/row-level-security</a:t>
            </a:r>
          </a:p>
          <a:p>
            <a:pPr>
              <a:spcAft>
                <a:spcPts val="600"/>
              </a:spcAft>
              <a:defRPr sz="1050">
                <a:solidFill>
                  <a:srgbClr val="F8FAFC"/>
                </a:solidFill>
                <a:latin typeface="Arial"/>
              </a:defRPr>
            </a:pPr>
            <a:r>
              <a:t>•  [4] Google Android Developers, 'Application Signing: APK Signature Scheme v2 and v3 Specifications,' Android Open Source Project, 2024. [Online]. Available: https://source.android.com/docs/security/features/apksigning</a:t>
            </a:r>
          </a:p>
          <a:p>
            <a:pPr>
              <a:spcAft>
                <a:spcPts val="600"/>
              </a:spcAft>
              <a:defRPr sz="1050">
                <a:solidFill>
                  <a:srgbClr val="F8FAFC"/>
                </a:solidFill>
                <a:latin typeface="Arial"/>
              </a:defRPr>
            </a:pPr>
            <a:r>
              <a:t>•  [5] OpenJS Foundation, 'Express.js: Fast, unopinionated, minimalist web framework for Node.js,' Express API Reference, 2024. [Online]. Available: https://expressjs.com/</a:t>
            </a:r>
          </a:p>
          <a:p>
            <a:pPr>
              <a:spcAft>
                <a:spcPts val="600"/>
              </a:spcAft>
              <a:defRPr sz="1050">
                <a:solidFill>
                  <a:srgbClr val="F8FAFC"/>
                </a:solidFill>
                <a:latin typeface="Arial"/>
              </a:defRPr>
            </a:pPr>
            <a:r>
              <a:t>•  [6] TanStack, 'TanStack Query: Asynchronous State Management and Optimistic UI Mutations for TypeScript,' TanStack Documentation, 2025. [Online]. Available: https://tanstack.com/query/latest</a:t>
            </a:r>
          </a:p>
          <a:p>
            <a:pPr>
              <a:spcAft>
                <a:spcPts val="600"/>
              </a:spcAft>
              <a:defRPr sz="1050">
                <a:solidFill>
                  <a:srgbClr val="F8FAFC"/>
                </a:solidFill>
                <a:latin typeface="Arial"/>
              </a:defRPr>
            </a:pPr>
            <a:r>
              <a:t>•  [7] C. Colin and D. Patterson, 'Distributed Systems and RESTful API Architecture for Mobile Applications,' IEEE Transactions on Software Engineering, vol. 48, no. 4, pp. 1120-1135, 2023.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1097280"/>
            <a:ext cx="8897112" cy="4663440"/>
          </a:xfrm>
          <a:prstGeom prst="roundRect">
            <a:avLst/>
          </a:prstGeom>
          <a:solidFill>
            <a:srgbClr val="182136"/>
          </a:solidFill>
          <a:ln w="19050">
            <a:solidFill>
              <a:srgbClr val="1DCD9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0"/>
            <a:ext cx="8165592" cy="1645920"/>
          </a:xfrm>
          <a:prstGeom prst="rect">
            <a:avLst/>
          </a:prstGeom>
          <a:noFill/>
        </p:spPr>
        <p:txBody>
          <a:bodyPr wrap="square">
            <a:spAutoFit/>
          </a:bodyPr>
          <a:lstStyle/>
          <a:p>
            <a:pPr algn="ctr">
              <a:defRPr sz="3600" b="1">
                <a:solidFill>
                  <a:srgbClr val="F8FAFC"/>
                </a:solidFill>
              </a:defRPr>
            </a:pPr>
            <a:r>
              <a:t>THANK YOU</a:t>
            </a:r>
          </a:p>
          <a:p>
            <a:pPr algn="ctr">
              <a:spcBef>
                <a:spcPts val="800"/>
              </a:spcBef>
              <a:defRPr sz="1600" b="1">
                <a:solidFill>
                  <a:srgbClr val="1DCD9F"/>
                </a:solidFill>
              </a:defRPr>
            </a:pPr>
            <a:r>
              <a:t>Questions &amp; Answers  |  Project Viva Voce Demonstration</a:t>
            </a:r>
          </a:p>
        </p:txBody>
      </p:sp>
      <p:sp>
        <p:nvSpPr>
          <p:cNvPr id="5" name="Rounded Rectangle 4"/>
          <p:cNvSpPr/>
          <p:nvPr/>
        </p:nvSpPr>
        <p:spPr>
          <a:xfrm>
            <a:off x="2286000" y="3291840"/>
            <a:ext cx="7616952" cy="2011680"/>
          </a:xfrm>
          <a:prstGeom prst="roundRect">
            <a:avLst/>
          </a:prstGeom>
          <a:solidFill>
            <a:srgbClr val="12192A"/>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8BDF8"/>
                </a:solidFill>
              </a:defRPr>
            </a:pPr>
            <a:r>
              <a:t>PROJECT RESOURCE DIRECTORY</a:t>
            </a:r>
          </a:p>
          <a:p>
            <a:pPr>
              <a:spcBef>
                <a:spcPts val="400"/>
              </a:spcBef>
              <a:defRPr sz="1000">
                <a:solidFill>
                  <a:srgbClr val="94A3B8"/>
                </a:solidFill>
              </a:defRPr>
            </a:pPr>
            <a:r>
              <a:t>• GitHub Repository: https://github.com/arjunak18/campus-events</a:t>
            </a:r>
          </a:p>
          <a:p>
            <a:pPr>
              <a:spcBef>
                <a:spcPts val="400"/>
              </a:spcBef>
              <a:defRPr sz="1000">
                <a:solidFill>
                  <a:srgbClr val="94A3B8"/>
                </a:solidFill>
              </a:defRPr>
            </a:pPr>
            <a:r>
              <a:t>• Live Web Portal &amp; APK Download: https://arjunak18.github.io/campus-events/</a:t>
            </a:r>
          </a:p>
          <a:p>
            <a:pPr>
              <a:spcBef>
                <a:spcPts val="400"/>
              </a:spcBef>
              <a:defRPr sz="1000">
                <a:solidFill>
                  <a:srgbClr val="94A3B8"/>
                </a:solidFill>
              </a:defRPr>
            </a:pPr>
            <a:r>
              <a:t>• Interactive Web Presentation: https://arjunak18.github.io/campus-events/presentation.html</a:t>
            </a:r>
          </a:p>
          <a:p>
            <a:pPr>
              <a:spcBef>
                <a:spcPts val="400"/>
              </a:spcBef>
              <a:defRPr sz="1000">
                <a:solidFill>
                  <a:srgbClr val="94A3B8"/>
                </a:solidFill>
              </a:defRPr>
            </a:pPr>
            <a:r>
              <a:t>• Production API Health Endpoint: https://campus-events-api-icb1.onrender.com/api/health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